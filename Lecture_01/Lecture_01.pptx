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29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24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27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26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323000"/>
            <a:ext cx="9143640" cy="2186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2500" lnSpcReduction="9999"/>
          </a:bodyPr>
          <a:lstStyle>
            <a:lvl1pPr indent="0" algn="ctr" defTabSz="914400">
              <a:lnSpc>
                <a:spcPct val="130000"/>
              </a:lnSpc>
              <a:buNone/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rial Black"/>
              </a:defRPr>
            </a:lvl1pPr>
          </a:lstStyle>
          <a:p>
            <a:pPr indent="0" algn="ctr" defTabSz="914400">
              <a:lnSpc>
                <a:spcPct val="13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Cli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ck 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to 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ed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it 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M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as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te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r 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tit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le 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st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yl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rial Black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body"/>
          </p:nvPr>
        </p:nvSpPr>
        <p:spPr>
          <a:xfrm>
            <a:off x="838080" y="551520"/>
            <a:ext cx="10515240" cy="5558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914400">
              <a:lnSpc>
                <a:spcPct val="90000"/>
              </a:lnSpc>
              <a:buNone/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rial Black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Click to edit Master title style</a:t>
            </a:r>
            <a:endParaRPr lang="en-US" sz="2400" b="1" u="none" strike="noStrike">
              <a:solidFill>
                <a:schemeClr val="dk1"/>
              </a:solidFill>
              <a:effectLst/>
              <a:uFillTx/>
              <a:latin typeface="Arial Black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4764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Second level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Third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Fourth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Fifth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1960" y="3750840"/>
            <a:ext cx="9847800" cy="81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914400">
              <a:lnSpc>
                <a:spcPct val="90000"/>
              </a:lnSpc>
              <a:buNone/>
              <a:defRPr lang="en-US" sz="4000" b="0" u="none" strike="noStrike">
                <a:solidFill>
                  <a:schemeClr val="dk1"/>
                </a:solidFill>
                <a:effectLst/>
                <a:uFillTx/>
                <a:latin typeface="Arial Black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Arial Black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831960" y="4610160"/>
            <a:ext cx="7321320" cy="64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914400">
              <a:lnSpc>
                <a:spcPct val="90000"/>
              </a:lnSpc>
              <a:buNone/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rial Black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Click to edit Master title style</a:t>
            </a:r>
            <a:endParaRPr lang="en-US" sz="2400" b="1" u="none" strike="noStrike">
              <a:solidFill>
                <a:schemeClr val="dk1"/>
              </a:solidFill>
              <a:effectLst/>
              <a:uFillTx/>
              <a:latin typeface="Arial Black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64764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914400">
              <a:lnSpc>
                <a:spcPct val="15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5pPr>
          </a:lstStyle>
          <a:p>
            <a:pPr marL="228600" indent="-228600" algn="l" defTabSz="914400">
              <a:lnSpc>
                <a:spcPct val="15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Second level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Third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Fourth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Fifth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598176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914400">
              <a:lnSpc>
                <a:spcPct val="15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5pPr>
          </a:lstStyle>
          <a:p>
            <a:pPr marL="228600" indent="-228600" algn="l" defTabSz="914400">
              <a:lnSpc>
                <a:spcPct val="15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Second level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Third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Fourth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Fifth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6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000" b="0" u="none" strike="noStrike">
                <a:solidFill>
                  <a:schemeClr val="dk1"/>
                </a:solidFill>
                <a:effectLst/>
                <a:uFillTx/>
                <a:latin typeface="Arial Black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Arial Black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9880" y="174492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839880" y="2615760"/>
            <a:ext cx="5157360" cy="357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6172200" y="174492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6172200" y="2615760"/>
            <a:ext cx="5182920" cy="357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7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8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2766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ctr" defTabSz="914400">
              <a:lnSpc>
                <a:spcPct val="90000"/>
              </a:lnSpc>
              <a:buNone/>
              <a:defRPr lang="en-US" sz="4800" b="0" u="none" strike="noStrike">
                <a:solidFill>
                  <a:schemeClr val="dk1"/>
                </a:solidFill>
                <a:effectLst/>
                <a:uFillTx/>
                <a:latin typeface="Arial Black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en-US" sz="48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Cli</a:t>
            </a:r>
            <a:r>
              <a:rPr lang="en-US" sz="48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ck </a:t>
            </a:r>
            <a:r>
              <a:rPr lang="en-US" sz="48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to </a:t>
            </a:r>
            <a:r>
              <a:rPr lang="en-US" sz="48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ed</a:t>
            </a:r>
            <a:r>
              <a:rPr lang="en-US" sz="48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it </a:t>
            </a:r>
            <a:r>
              <a:rPr lang="en-US" sz="48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M</a:t>
            </a:r>
            <a:r>
              <a:rPr lang="en-US" sz="48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as</a:t>
            </a:r>
            <a:r>
              <a:rPr lang="en-US" sz="48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te</a:t>
            </a:r>
            <a:r>
              <a:rPr lang="en-US" sz="48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r </a:t>
            </a:r>
            <a:r>
              <a:rPr lang="en-US" sz="48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tit</a:t>
            </a:r>
            <a:r>
              <a:rPr lang="en-US" sz="48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le </a:t>
            </a:r>
            <a:r>
              <a:rPr lang="en-US" sz="48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st</a:t>
            </a:r>
            <a:r>
              <a:rPr lang="en-US" sz="48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yl</a:t>
            </a:r>
            <a:r>
              <a:rPr lang="en-US" sz="48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e</a:t>
            </a:r>
            <a:endParaRPr lang="en-US" sz="4800" b="0" u="none" strike="noStrike">
              <a:solidFill>
                <a:schemeClr val="dk1"/>
              </a:solidFill>
              <a:effectLst/>
              <a:uFillTx/>
              <a:latin typeface="Arial Black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46920" y="127080"/>
            <a:ext cx="416484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914400">
              <a:lnSpc>
                <a:spcPct val="90000"/>
              </a:lnSpc>
              <a:buNone/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rial Black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Click to edit Master title style</a:t>
            </a:r>
            <a:endParaRPr lang="en-US" sz="2400" b="1" u="none" strike="noStrike">
              <a:solidFill>
                <a:schemeClr val="dk1"/>
              </a:solidFill>
              <a:effectLst/>
              <a:uFillTx/>
              <a:latin typeface="Arial Black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5184000" y="766440"/>
            <a:ext cx="5816880" cy="509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algn="l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651960" y="2057400"/>
            <a:ext cx="416484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48" name="直接连接符 7"/>
          <p:cNvCxnSpPr/>
          <p:nvPr/>
        </p:nvCxnSpPr>
        <p:spPr>
          <a:xfrm>
            <a:off x="742680" y="434160"/>
            <a:ext cx="360" cy="1391760"/>
          </a:xfrm>
          <a:prstGeom prst="straightConnector1">
            <a:avLst/>
          </a:prstGeom>
          <a:ln>
            <a:solidFill>
              <a:srgbClr val="5B9BD5"/>
            </a:solidFill>
          </a:ln>
        </p:spPr>
      </p:cxn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9824400" y="365040"/>
            <a:ext cx="152892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rmAutofit/>
          </a:bodyPr>
          <a:lstStyle>
            <a:lvl1pPr indent="0" algn="l" defTabSz="914400">
              <a:lnSpc>
                <a:spcPct val="90000"/>
              </a:lnSpc>
              <a:buNone/>
              <a:defRPr lang="en-US" sz="3600" b="0" u="none" strike="noStrike">
                <a:solidFill>
                  <a:schemeClr val="dk1"/>
                </a:solidFill>
                <a:effectLst/>
                <a:uFillTx/>
                <a:latin typeface="Arial Black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Click to edit Master title style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Arial Black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887976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4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16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slideLayout" Target="../slideLayouts/slideLayout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16.png"/><Relationship Id="rId3" Type="http://schemas.openxmlformats.org/officeDocument/2006/relationships/image" Target="../media/image4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slideLayout" Target="../slideLayouts/slideLayout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19.png"/><Relationship Id="rId3" Type="http://schemas.openxmlformats.org/officeDocument/2006/relationships/image" Target="../media/image16.png"/><Relationship Id="rId4" Type="http://schemas.openxmlformats.org/officeDocument/2006/relationships/image" Target="../media/image5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slideLayout" Target="../slideLayouts/slideLayout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16.png"/><Relationship Id="rId3" Type="http://schemas.openxmlformats.org/officeDocument/2006/relationships/image" Target="../media/image5.png"/><Relationship Id="rId4" Type="http://schemas.openxmlformats.org/officeDocument/2006/relationships/image" Target="../media/image29.png"/><Relationship Id="rId5" Type="http://schemas.openxmlformats.org/officeDocument/2006/relationships/image" Target="../media/image28.png"/><Relationship Id="rId6" Type="http://schemas.openxmlformats.org/officeDocument/2006/relationships/slideLayout" Target="../slideLayouts/slideLayout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4.png"/><Relationship Id="rId3" Type="http://schemas.openxmlformats.org/officeDocument/2006/relationships/image" Target="../media/image30.png"/><Relationship Id="rId4" Type="http://schemas.openxmlformats.org/officeDocument/2006/relationships/slideLayout" Target="../slideLayouts/slideLayout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4.png"/><Relationship Id="rId3" Type="http://schemas.openxmlformats.org/officeDocument/2006/relationships/image" Target="../media/image30.png"/><Relationship Id="rId4" Type="http://schemas.openxmlformats.org/officeDocument/2006/relationships/image" Target="../media/image28.png"/><Relationship Id="rId5" Type="http://schemas.openxmlformats.org/officeDocument/2006/relationships/slideLayout" Target="../slideLayouts/slideLayout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slideLayout" Target="../slideLayouts/slideLayout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3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7.png"/><Relationship Id="rId3" Type="http://schemas.openxmlformats.org/officeDocument/2006/relationships/slideLayout" Target="../slideLayouts/slideLayout3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164600" y="1322640"/>
            <a:ext cx="10054800" cy="2186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2500" lnSpcReduction="9999"/>
          </a:bodyPr>
          <a:p>
            <a:pPr indent="0" algn="ctr" defTabSz="914400">
              <a:lnSpc>
                <a:spcPct val="130000"/>
              </a:lnSpc>
              <a:buNone/>
            </a:pPr>
            <a:r>
              <a:rPr lang="en-US" sz="60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Math and Computational Biology I</a:t>
            </a:r>
            <a:endParaRPr lang="en-US" sz="6000" b="1" u="none" strike="noStrike">
              <a:solidFill>
                <a:schemeClr val="dk1"/>
              </a:solidFill>
              <a:effectLst/>
              <a:uFillTx/>
              <a:latin typeface="Arial Black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ubTitle"/>
          </p:nvPr>
        </p:nvSpPr>
        <p:spPr>
          <a:xfrm>
            <a:off x="1523880" y="40935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vi-VN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059"/>
              </a:rPr>
              <a:t>Sep </a:t>
            </a:r>
            <a:r>
              <a:rPr lang="vi-VN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059"/>
              </a:rPr>
              <a:t>28 </a:t>
            </a:r>
            <a:r>
              <a:rPr lang="vi-VN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059"/>
              </a:rPr>
              <a:t>2026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 Black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vi-VN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059"/>
              </a:rPr>
              <a:t>Phuc </a:t>
            </a:r>
            <a:r>
              <a:rPr lang="vi-VN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059"/>
              </a:rPr>
              <a:t>Loi </a:t>
            </a:r>
            <a:r>
              <a:rPr lang="vi-VN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059"/>
              </a:rPr>
              <a:t>Luu, </a:t>
            </a:r>
            <a:r>
              <a:rPr lang="vi-VN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059"/>
              </a:rPr>
              <a:t>PhD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 Black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vi-VN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059"/>
              </a:rPr>
              <a:t>luu.p</a:t>
            </a:r>
            <a:r>
              <a:rPr lang="vi-VN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059"/>
              </a:rPr>
              <a:t>.loi@</a:t>
            </a:r>
            <a:r>
              <a:rPr lang="vi-VN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059"/>
              </a:rPr>
              <a:t>googl</a:t>
            </a:r>
            <a:r>
              <a:rPr lang="vi-VN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059"/>
              </a:rPr>
              <a:t>emai</a:t>
            </a:r>
            <a:r>
              <a:rPr lang="vi-VN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059"/>
              </a:rPr>
              <a:t>l.com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 Black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vi-VN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059"/>
              </a:rPr>
              <a:t>Zalo: </a:t>
            </a:r>
            <a:r>
              <a:rPr lang="vi-VN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059"/>
              </a:rPr>
              <a:t>0901</a:t>
            </a:r>
            <a:r>
              <a:rPr lang="vi-VN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059"/>
              </a:rPr>
              <a:t>8021</a:t>
            </a:r>
            <a:r>
              <a:rPr lang="vi-VN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059"/>
              </a:rPr>
              <a:t>82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 Blac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Content</a:t>
            </a:r>
            <a:endParaRPr lang="en-US" sz="3200" b="1" u="none" strike="noStrike">
              <a:solidFill>
                <a:schemeClr val="dk1"/>
              </a:solidFill>
              <a:effectLst/>
              <a:uFillTx/>
              <a:latin typeface="Arial Black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647640" y="164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059"/>
              </a:rPr>
              <a:t>Derive Simple Linear Regression</a:t>
            </a:r>
            <a:endParaRPr lang="en-US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059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059"/>
              </a:rPr>
              <a:t>Linear Algebra</a:t>
            </a:r>
            <a:endParaRPr lang="en-US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059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059"/>
              </a:rPr>
              <a:t>Calculus</a:t>
            </a:r>
            <a:endParaRPr lang="en-US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059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059"/>
              </a:rPr>
              <a:t>Statistics</a:t>
            </a:r>
            <a:endParaRPr lang="en-US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059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059"/>
              </a:rPr>
              <a:t>Algorithms to find the solution for Simple Linear regression</a:t>
            </a:r>
            <a:endParaRPr lang="en-US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059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059"/>
              </a:rPr>
              <a:t>Gradient descent</a:t>
            </a:r>
            <a:endParaRPr lang="en-US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059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059"/>
              </a:rPr>
              <a:t>Pseudo Inverse</a:t>
            </a:r>
            <a:endParaRPr lang="en-US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059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059"/>
              </a:rPr>
              <a:t>Multiple Linear Regression</a:t>
            </a:r>
            <a:endParaRPr lang="en-US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059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059"/>
              </a:rPr>
              <a:t>Related linear regression</a:t>
            </a:r>
            <a:endParaRPr lang="en-US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059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059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60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Prediction weight of tree using age: Simple Linear Regression</a:t>
            </a:r>
            <a:endParaRPr lang="en-US" sz="2400" b="1" u="none" strike="noStrike">
              <a:solidFill>
                <a:schemeClr val="dk1"/>
              </a:solidFill>
              <a:effectLst/>
              <a:uFillTx/>
              <a:latin typeface="C059"/>
            </a:endParaRPr>
          </a:p>
        </p:txBody>
      </p:sp>
      <p:pic>
        <p:nvPicPr>
          <p:cNvPr id="59" name="Picture 16"/>
          <p:cNvPicPr/>
          <p:nvPr/>
        </p:nvPicPr>
        <p:blipFill>
          <a:blip r:embed="rId1"/>
          <a:stretch/>
        </p:blipFill>
        <p:spPr>
          <a:xfrm>
            <a:off x="1331640" y="1166400"/>
            <a:ext cx="8930160" cy="5023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60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vi-VN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Fitti</a:t>
            </a:r>
            <a:r>
              <a:rPr lang="vi-VN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ng a </a:t>
            </a:r>
            <a:r>
              <a:rPr lang="vi-VN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line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goin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g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thro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ugh</a:t>
            </a:r>
            <a:r>
              <a:rPr lang="vi-VN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 </a:t>
            </a:r>
            <a:r>
              <a:rPr lang="vi-VN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t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hre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e</a:t>
            </a:r>
            <a:r>
              <a:rPr lang="vi-VN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 </a:t>
            </a:r>
            <a:r>
              <a:rPr lang="vi-VN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poin</a:t>
            </a:r>
            <a:r>
              <a:rPr lang="vi-VN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ts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(1):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Line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ar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Alge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bra</a:t>
            </a:r>
            <a:endParaRPr lang="en-US" sz="2400" b="1" u="none" strike="noStrike">
              <a:solidFill>
                <a:schemeClr val="dk1"/>
              </a:solidFill>
              <a:effectLst/>
              <a:uFillTx/>
              <a:latin typeface="C059"/>
            </a:endParaRPr>
          </a:p>
        </p:txBody>
      </p:sp>
      <p:graphicFrame>
        <p:nvGraphicFramePr>
          <p:cNvPr id="61" name="Table 5"/>
          <p:cNvGraphicFramePr/>
          <p:nvPr/>
        </p:nvGraphicFramePr>
        <p:xfrm>
          <a:off x="7413120" y="1508760"/>
          <a:ext cx="3865680" cy="1523520"/>
        </p:xfrm>
        <a:graphic>
          <a:graphicData uri="http://schemas.openxmlformats.org/drawingml/2006/table">
            <a:tbl>
              <a:tblPr/>
              <a:tblGrid>
                <a:gridCol w="1288440"/>
                <a:gridCol w="1288440"/>
                <a:gridCol w="1288440"/>
              </a:tblGrid>
              <a:tr h="380880">
                <a:tc>
                  <a:txBody>
                    <a:bodyPr anchor="t">
                      <a:noAutofit/>
                    </a:bodyPr>
                    <a:p>
                      <a:endParaRPr lang="en-US" sz="1800" b="1" u="none" strike="noStrike">
                        <a:solidFill>
                          <a:schemeClr val="lt1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</a:rPr>
                        <a:t>x (Age)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</a:rPr>
                        <a:t>y (Weight)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B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C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2" name="Text Box 6"/>
          <p:cNvSpPr/>
          <p:nvPr/>
        </p:nvSpPr>
        <p:spPr>
          <a:xfrm>
            <a:off x="4971960" y="4741560"/>
            <a:ext cx="5807520" cy="19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library(ggplot2)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## plot 3 points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p &lt;- ggplot(data=data.frame(x=0, y=0), mapping = aes(x=x, y=y)) +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geom_text(x=1-0.4, y=1+0.2, label="A(1,1)", size=10) +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geom_text(x=3-0.4, y=2+0.2, label="B(3,2)", size=10) +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geom_text(x=5-0.4, y=3+0.2, label="C(5,3)", size=10) +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geom_point(x=1, y=1, color="red", size=5) +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geom_point(x=3, y=2, color="red", size=5) +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geom_point(x=5, y=3, color="red", size=5) +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xlim(0,6) + ylim(0, 4) +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theme(text = element_text(size = 25)) 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Box 7"/>
          <p:cNvSpPr/>
          <p:nvPr/>
        </p:nvSpPr>
        <p:spPr>
          <a:xfrm>
            <a:off x="4860720" y="3617640"/>
            <a:ext cx="5958000" cy="92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vi-VN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How to fi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nd the line going through A and B</a:t>
            </a:r>
            <a:r>
              <a:rPr lang="vi-VN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y = f(x) = m*x + c</a:t>
            </a:r>
            <a:r>
              <a:rPr lang="vi-VN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4" name="Group 12"/>
          <p:cNvGrpSpPr/>
          <p:nvPr/>
        </p:nvGrpSpPr>
        <p:grpSpPr>
          <a:xfrm>
            <a:off x="4971960" y="1101240"/>
            <a:ext cx="1766880" cy="1967400"/>
            <a:chOff x="4971960" y="1101240"/>
            <a:chExt cx="1766880" cy="1967400"/>
          </a:xfrm>
        </p:grpSpPr>
        <p:pic>
          <p:nvPicPr>
            <p:cNvPr id="65" name="Picture 2"/>
            <p:cNvPicPr/>
            <p:nvPr/>
          </p:nvPicPr>
          <p:blipFill>
            <a:blip r:embed="rId1"/>
            <a:srcRect l="43870" t="4292" r="5578" b="14372"/>
            <a:stretch/>
          </p:blipFill>
          <p:spPr>
            <a:xfrm>
              <a:off x="4971960" y="1469520"/>
              <a:ext cx="1766880" cy="15991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66" name="Text Box 4"/>
            <p:cNvSpPr/>
            <p:nvPr/>
          </p:nvSpPr>
          <p:spPr>
            <a:xfrm>
              <a:off x="4971960" y="1101240"/>
              <a:ext cx="1766880" cy="367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A        B         C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67" name="Picture 15"/>
          <p:cNvPicPr/>
          <p:nvPr/>
        </p:nvPicPr>
        <p:blipFill>
          <a:blip r:embed="rId2"/>
          <a:stretch/>
        </p:blipFill>
        <p:spPr>
          <a:xfrm>
            <a:off x="746640" y="1306080"/>
            <a:ext cx="3744720" cy="3744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72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vi-VN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Fitting a line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going through</a:t>
            </a:r>
            <a:r>
              <a:rPr lang="vi-VN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 t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hree</a:t>
            </a:r>
            <a:r>
              <a:rPr lang="vi-VN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 points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(2)</a:t>
            </a:r>
            <a:endParaRPr lang="en-US" sz="2400" b="1" u="none" strike="noStrike">
              <a:solidFill>
                <a:schemeClr val="dk1"/>
              </a:solidFill>
              <a:effectLst/>
              <a:uFillTx/>
              <a:latin typeface="C059"/>
            </a:endParaRPr>
          </a:p>
        </p:txBody>
      </p:sp>
      <p:sp>
        <p:nvSpPr>
          <p:cNvPr id="69" name="Text Box 4"/>
          <p:cNvSpPr/>
          <p:nvPr/>
        </p:nvSpPr>
        <p:spPr>
          <a:xfrm>
            <a:off x="5259240" y="4931280"/>
            <a:ext cx="6716520" cy="170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library(ggplot2)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## plot line going through 3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points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l2 &lt;- function(x){ 1/2*x +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1/2 }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p &lt;- ggplot(data =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data.frame(x = 0), mapping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= aes(x = x)) +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stat_function(fun = l2,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color="blue", size=3) +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xlim(0,6) + ylim(0, 4) + 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geom_text(x=1-0.4,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y=1+0.2, label="A(1,1)",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size=10) + 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geom_text(x=3-0.4,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y=2+0.2, label="B(3,2)",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size=10) +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geom_text(x=5-0.4,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y=3+0.2, label="C(5,3)",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size=10) +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geom_point(x=1, y=1,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color="red", size=5) + 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geom_point(x=3, y=2,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color="red", size=5) + 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geom_point(x=5, y=3,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color="red", size=5) +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geom_text(x=3, y=1,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label="y = 1/2*x + 1/2",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size=10) +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theme(text =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element_text(size = 25))  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Box 2"/>
          <p:cNvSpPr/>
          <p:nvPr/>
        </p:nvSpPr>
        <p:spPr>
          <a:xfrm>
            <a:off x="5363280" y="2184480"/>
            <a:ext cx="6084360" cy="25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Find the line going through A and B: y = f(x) = m * x + 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For A:  1    = m * 1 + c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(1)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For B:  2    = m * 3 + c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(2)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For C:  3    = m * 5 + c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(3)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Solving system of 2 equations (1) and (2):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m = 1/2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c = 1/2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replace values of m, c to (3):  3 = 1/2*5 + 1/2 (TRUE)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vi-VN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=&gt; y = 1/2*x + 1/2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with m =1/2 and c=1/2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1" name="Table 3"/>
          <p:cNvGraphicFramePr/>
          <p:nvPr/>
        </p:nvGraphicFramePr>
        <p:xfrm>
          <a:off x="7136640" y="846000"/>
          <a:ext cx="3864960" cy="982800"/>
        </p:xfrm>
        <a:graphic>
          <a:graphicData uri="http://schemas.openxmlformats.org/drawingml/2006/table">
            <a:tbl>
              <a:tblPr/>
              <a:tblGrid>
                <a:gridCol w="678960"/>
                <a:gridCol w="1386360"/>
                <a:gridCol w="1800000"/>
              </a:tblGrid>
              <a:tr h="335520">
                <a:tc>
                  <a:txBody>
                    <a:bodyPr anchor="t">
                      <a:noAutofit/>
                    </a:bodyPr>
                    <a:p>
                      <a:endParaRPr lang="en-US" sz="1600" b="1" u="none" strike="noStrike">
                        <a:solidFill>
                          <a:schemeClr val="lt1"/>
                        </a:solidFill>
                        <a:effectLst/>
                        <a:uFillTx/>
                        <a:latin typeface="C059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059"/>
                        </a:rPr>
                        <a:t>x (Age)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C059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059"/>
                        </a:rPr>
                        <a:t>y (Weight)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C059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355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059"/>
                        </a:rPr>
                        <a:t>A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059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059"/>
                        </a:rPr>
                        <a:t>1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059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059"/>
                        </a:rPr>
                        <a:t>1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059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355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059"/>
                        </a:rPr>
                        <a:t>B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059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059"/>
                        </a:rPr>
                        <a:t>3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059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059"/>
                        </a:rPr>
                        <a:t>2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059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355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059"/>
                        </a:rPr>
                        <a:t>C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059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059"/>
                        </a:rPr>
                        <a:t>5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059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059"/>
                        </a:rPr>
                        <a:t>3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059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72" name="Picture 8"/>
          <p:cNvPicPr/>
          <p:nvPr/>
        </p:nvPicPr>
        <p:blipFill>
          <a:blip r:embed="rId1"/>
          <a:stretch/>
        </p:blipFill>
        <p:spPr>
          <a:xfrm>
            <a:off x="544680" y="1406520"/>
            <a:ext cx="4145040" cy="4139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540360" y="258480"/>
            <a:ext cx="10515240" cy="5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vi-VN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Fitting a line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going through</a:t>
            </a:r>
            <a:r>
              <a:rPr lang="vi-VN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 t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hree</a:t>
            </a:r>
            <a:r>
              <a:rPr lang="vi-VN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 points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(3)</a:t>
            </a:r>
            <a:endParaRPr lang="en-US" sz="2400" b="1" u="none" strike="noStrike">
              <a:solidFill>
                <a:schemeClr val="dk1"/>
              </a:solidFill>
              <a:effectLst/>
              <a:uFillTx/>
              <a:latin typeface="C059"/>
            </a:endParaRPr>
          </a:p>
        </p:txBody>
      </p:sp>
      <p:sp>
        <p:nvSpPr>
          <p:cNvPr id="74" name="Text Box 2"/>
          <p:cNvSpPr/>
          <p:nvPr/>
        </p:nvSpPr>
        <p:spPr>
          <a:xfrm>
            <a:off x="5582160" y="2583360"/>
            <a:ext cx="5999760" cy="173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F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I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n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d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t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h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e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l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i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n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e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g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o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i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n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g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t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h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r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o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u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g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h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A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a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n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d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B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: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y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=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m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*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x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+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F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o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r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A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: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1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=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m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*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1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+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c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F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o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r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B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: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2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=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m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*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3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+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F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o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r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C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: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3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=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m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*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5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+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R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e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w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r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i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t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e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s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y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s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t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e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m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o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f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3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e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q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u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a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t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i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o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n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s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i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n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t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o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m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a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t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r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i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x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f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o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r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m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a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Box 11"/>
          <p:cNvSpPr/>
          <p:nvPr/>
        </p:nvSpPr>
        <p:spPr>
          <a:xfrm>
            <a:off x="7136640" y="4415040"/>
            <a:ext cx="1017000" cy="3679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</a:rPr>
              <a:t> 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6" name="Table 18"/>
          <p:cNvGraphicFramePr/>
          <p:nvPr/>
        </p:nvGraphicFramePr>
        <p:xfrm>
          <a:off x="6217920" y="951120"/>
          <a:ext cx="3865680" cy="1523520"/>
        </p:xfrm>
        <a:graphic>
          <a:graphicData uri="http://schemas.openxmlformats.org/drawingml/2006/table">
            <a:tbl>
              <a:tblPr/>
              <a:tblGrid>
                <a:gridCol w="619560"/>
                <a:gridCol w="1437120"/>
                <a:gridCol w="1808640"/>
              </a:tblGrid>
              <a:tr h="380880">
                <a:tc>
                  <a:txBody>
                    <a:bodyPr anchor="t">
                      <a:noAutofit/>
                    </a:bodyPr>
                    <a:p>
                      <a:endParaRPr lang="en-US" sz="1800" b="1" u="none" strike="noStrike">
                        <a:solidFill>
                          <a:schemeClr val="lt1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</a:rPr>
                        <a:t>x (Age)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</a:rPr>
                        <a:t>y (Weight)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B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C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77" name="Picture 32"/>
          <p:cNvPicPr/>
          <p:nvPr/>
        </p:nvPicPr>
        <p:blipFill>
          <a:blip r:embed="rId2"/>
          <a:stretch/>
        </p:blipFill>
        <p:spPr>
          <a:xfrm>
            <a:off x="226080" y="1396440"/>
            <a:ext cx="4750200" cy="4743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540360" y="150480"/>
            <a:ext cx="10515240" cy="5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vi-VN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Fitting a line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going through</a:t>
            </a:r>
            <a:r>
              <a:rPr lang="vi-VN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 t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hree</a:t>
            </a:r>
            <a:r>
              <a:rPr lang="vi-VN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 points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(4)</a:t>
            </a:r>
            <a:endParaRPr lang="en-US" sz="2400" b="1" u="none" strike="noStrike">
              <a:solidFill>
                <a:schemeClr val="dk1"/>
              </a:solidFill>
              <a:effectLst/>
              <a:uFillTx/>
              <a:latin typeface="C059"/>
            </a:endParaRPr>
          </a:p>
        </p:txBody>
      </p:sp>
      <p:sp>
        <p:nvSpPr>
          <p:cNvPr id="79" name="Text Box 2"/>
          <p:cNvSpPr/>
          <p:nvPr/>
        </p:nvSpPr>
        <p:spPr>
          <a:xfrm>
            <a:off x="5754960" y="2367360"/>
            <a:ext cx="5826960" cy="175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FInd the line going through A and B: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            y = m * x + 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For A:  1 = m * 1 + c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For B:  2 = m * 3 + 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For C:  3 = m * 5 + 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Rewrite system of 3 equations into matrix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Box 11"/>
          <p:cNvSpPr/>
          <p:nvPr/>
        </p:nvSpPr>
        <p:spPr>
          <a:xfrm>
            <a:off x="7499520" y="5842800"/>
            <a:ext cx="1017000" cy="3679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</a:rPr>
              <a:t> 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1" name="Straight Arrow Connector 15"/>
          <p:cNvCxnSpPr/>
          <p:nvPr/>
        </p:nvCxnSpPr>
        <p:spPr>
          <a:xfrm flipH="1" flipV="1">
            <a:off x="7435080" y="5556240"/>
            <a:ext cx="252360" cy="346320"/>
          </a:xfrm>
          <a:prstGeom prst="straightConnector1">
            <a:avLst/>
          </a:prstGeom>
          <a:ln w="31750">
            <a:solidFill>
              <a:srgbClr val="FF3300"/>
            </a:solidFill>
            <a:tailEnd len="med" type="arrow" w="med"/>
          </a:ln>
        </p:spPr>
      </p:cxnSp>
      <p:cxnSp>
        <p:nvCxnSpPr>
          <p:cNvPr id="82" name="Straight Arrow Connector 16"/>
          <p:cNvCxnSpPr>
            <a:endCxn id="83" idx="2"/>
          </p:cNvCxnSpPr>
          <p:nvPr/>
        </p:nvCxnSpPr>
        <p:spPr>
          <a:xfrm flipV="1">
            <a:off x="7922880" y="5326200"/>
            <a:ext cx="237960" cy="629640"/>
          </a:xfrm>
          <a:prstGeom prst="straightConnector1">
            <a:avLst/>
          </a:prstGeom>
          <a:ln w="31750">
            <a:solidFill>
              <a:srgbClr val="FF3300"/>
            </a:solidFill>
            <a:tailEnd len="med" type="arrow" w="med"/>
          </a:ln>
        </p:spPr>
      </p:cxnSp>
      <p:cxnSp>
        <p:nvCxnSpPr>
          <p:cNvPr id="84" name="Straight Arrow Connector 17"/>
          <p:cNvCxnSpPr/>
          <p:nvPr/>
        </p:nvCxnSpPr>
        <p:spPr>
          <a:xfrm flipV="1">
            <a:off x="8487720" y="5585760"/>
            <a:ext cx="463320" cy="382680"/>
          </a:xfrm>
          <a:prstGeom prst="straightConnector1">
            <a:avLst/>
          </a:prstGeom>
          <a:ln w="31750">
            <a:solidFill>
              <a:srgbClr val="FF3300"/>
            </a:solidFill>
            <a:tailEnd len="med" type="arrow" w="med"/>
          </a:ln>
        </p:spPr>
      </p:cxnSp>
      <p:graphicFrame>
        <p:nvGraphicFramePr>
          <p:cNvPr id="85" name="Table 18"/>
          <p:cNvGraphicFramePr/>
          <p:nvPr/>
        </p:nvGraphicFramePr>
        <p:xfrm>
          <a:off x="5984640" y="810000"/>
          <a:ext cx="3865680" cy="1523520"/>
        </p:xfrm>
        <a:graphic>
          <a:graphicData uri="http://schemas.openxmlformats.org/drawingml/2006/table">
            <a:tbl>
              <a:tblPr/>
              <a:tblGrid>
                <a:gridCol w="534240"/>
                <a:gridCol w="1471320"/>
                <a:gridCol w="1859760"/>
              </a:tblGrid>
              <a:tr h="380880">
                <a:tc>
                  <a:txBody>
                    <a:bodyPr anchor="t">
                      <a:noAutofit/>
                    </a:bodyPr>
                    <a:p>
                      <a:endParaRPr lang="en-US" sz="1800" b="1" u="none" strike="noStrike">
                        <a:solidFill>
                          <a:schemeClr val="lt1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</a:rPr>
                        <a:t>x (Age)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</a:rPr>
                        <a:t>y (Weight)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B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C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6" name="Table 20"/>
          <p:cNvGraphicFramePr/>
          <p:nvPr/>
        </p:nvGraphicFramePr>
        <p:xfrm>
          <a:off x="6725160" y="4429080"/>
          <a:ext cx="1032120" cy="1098360"/>
        </p:xfrm>
        <a:graphic>
          <a:graphicData uri="http://schemas.openxmlformats.org/drawingml/2006/table">
            <a:tbl>
              <a:tblPr/>
              <a:tblGrid>
                <a:gridCol w="516240"/>
                <a:gridCol w="51624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7" name="Table 22"/>
          <p:cNvGraphicFramePr/>
          <p:nvPr/>
        </p:nvGraphicFramePr>
        <p:xfrm>
          <a:off x="7792560" y="4594320"/>
          <a:ext cx="736200" cy="732240"/>
        </p:xfrm>
        <a:graphic>
          <a:graphicData uri="http://schemas.openxmlformats.org/drawingml/2006/table">
            <a:tbl>
              <a:tblPr/>
              <a:tblGrid>
                <a:gridCol w="73656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m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c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8" name="Table 23"/>
          <p:cNvGraphicFramePr/>
          <p:nvPr/>
        </p:nvGraphicFramePr>
        <p:xfrm>
          <a:off x="8240400" y="4770720"/>
          <a:ext cx="736200" cy="366120"/>
        </p:xfrm>
        <a:graphic>
          <a:graphicData uri="http://schemas.openxmlformats.org/drawingml/2006/table">
            <a:tbl>
              <a:tblPr/>
              <a:tblGrid>
                <a:gridCol w="73656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=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9" name="Table 24"/>
          <p:cNvGraphicFramePr/>
          <p:nvPr/>
        </p:nvGraphicFramePr>
        <p:xfrm>
          <a:off x="8658720" y="4488840"/>
          <a:ext cx="736200" cy="1098360"/>
        </p:xfrm>
        <a:graphic>
          <a:graphicData uri="http://schemas.openxmlformats.org/drawingml/2006/table">
            <a:tbl>
              <a:tblPr/>
              <a:tblGrid>
                <a:gridCol w="73656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0" name="Left Bracket 25"/>
          <p:cNvSpPr/>
          <p:nvPr/>
        </p:nvSpPr>
        <p:spPr>
          <a:xfrm>
            <a:off x="6725880" y="4462200"/>
            <a:ext cx="75240" cy="1060560"/>
          </a:xfrm>
          <a:prstGeom prst="leftBracket">
            <a:avLst>
              <a:gd name="adj" fmla="val 8333"/>
            </a:avLst>
          </a:prstGeom>
          <a:noFill/>
          <a:ln w="3175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1" name="Left Bracket 27"/>
          <p:cNvSpPr/>
          <p:nvPr/>
        </p:nvSpPr>
        <p:spPr>
          <a:xfrm>
            <a:off x="8875440" y="4465440"/>
            <a:ext cx="75240" cy="1060560"/>
          </a:xfrm>
          <a:prstGeom prst="leftBracket">
            <a:avLst>
              <a:gd name="adj" fmla="val 8333"/>
            </a:avLst>
          </a:prstGeom>
          <a:noFill/>
          <a:ln w="3175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2" name="Right Bracket 28"/>
          <p:cNvSpPr/>
          <p:nvPr/>
        </p:nvSpPr>
        <p:spPr>
          <a:xfrm>
            <a:off x="7681680" y="4439880"/>
            <a:ext cx="75960" cy="1086120"/>
          </a:xfrm>
          <a:prstGeom prst="rightBracket">
            <a:avLst>
              <a:gd name="adj" fmla="val 8333"/>
            </a:avLst>
          </a:prstGeom>
          <a:noFill/>
          <a:ln w="3810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3" name="Right Bracket 29"/>
          <p:cNvSpPr/>
          <p:nvPr/>
        </p:nvSpPr>
        <p:spPr>
          <a:xfrm>
            <a:off x="9119160" y="4455000"/>
            <a:ext cx="75960" cy="1086120"/>
          </a:xfrm>
          <a:prstGeom prst="rightBracket">
            <a:avLst>
              <a:gd name="adj" fmla="val 8333"/>
            </a:avLst>
          </a:prstGeom>
          <a:noFill/>
          <a:ln w="3810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4" name="Left Bracket 30"/>
          <p:cNvSpPr/>
          <p:nvPr/>
        </p:nvSpPr>
        <p:spPr>
          <a:xfrm>
            <a:off x="7979400" y="4695120"/>
            <a:ext cx="75240" cy="525960"/>
          </a:xfrm>
          <a:prstGeom prst="leftBracket">
            <a:avLst>
              <a:gd name="adj" fmla="val 8333"/>
            </a:avLst>
          </a:prstGeom>
          <a:noFill/>
          <a:ln w="28575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5" name="Right Bracket 31"/>
          <p:cNvSpPr/>
          <p:nvPr/>
        </p:nvSpPr>
        <p:spPr>
          <a:xfrm>
            <a:off x="8240400" y="4665240"/>
            <a:ext cx="85320" cy="590040"/>
          </a:xfrm>
          <a:prstGeom prst="rightBracket">
            <a:avLst>
              <a:gd name="adj" fmla="val 8333"/>
            </a:avLst>
          </a:prstGeom>
          <a:noFill/>
          <a:ln w="28575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96" name="Picture 32"/>
          <p:cNvPicPr/>
          <p:nvPr/>
        </p:nvPicPr>
        <p:blipFill>
          <a:blip r:embed="rId2"/>
          <a:stretch/>
        </p:blipFill>
        <p:spPr>
          <a:xfrm>
            <a:off x="226080" y="1396440"/>
            <a:ext cx="4750200" cy="4743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384840" y="226080"/>
            <a:ext cx="10515240" cy="5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vi-VN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Fitting a line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going through</a:t>
            </a:r>
            <a:r>
              <a:rPr lang="vi-VN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two</a:t>
            </a:r>
            <a:r>
              <a:rPr lang="vi-VN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points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(5)</a:t>
            </a:r>
            <a:endParaRPr lang="en-US" sz="2400" b="1" u="none" strike="noStrike">
              <a:solidFill>
                <a:schemeClr val="dk1"/>
              </a:solidFill>
              <a:effectLst/>
              <a:uFillTx/>
              <a:latin typeface="Arial Black"/>
            </a:endParaRPr>
          </a:p>
        </p:txBody>
      </p:sp>
      <p:sp>
        <p:nvSpPr>
          <p:cNvPr id="98" name="Text Box 11"/>
          <p:cNvSpPr/>
          <p:nvPr/>
        </p:nvSpPr>
        <p:spPr>
          <a:xfrm>
            <a:off x="1116360" y="3485160"/>
            <a:ext cx="1017000" cy="3679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</a:rPr>
              <a:t> 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9" name="Straight Arrow Connector 15"/>
          <p:cNvCxnSpPr/>
          <p:nvPr/>
        </p:nvCxnSpPr>
        <p:spPr>
          <a:xfrm flipH="1" flipV="1">
            <a:off x="1051920" y="3234600"/>
            <a:ext cx="252720" cy="346320"/>
          </a:xfrm>
          <a:prstGeom prst="straightConnector1">
            <a:avLst/>
          </a:prstGeom>
          <a:ln w="31750">
            <a:solidFill>
              <a:srgbClr val="FF3300"/>
            </a:solidFill>
            <a:tailEnd len="med" type="arrow" w="med"/>
          </a:ln>
        </p:spPr>
      </p:cxnSp>
      <p:cxnSp>
        <p:nvCxnSpPr>
          <p:cNvPr id="100" name="Straight Arrow Connector 16"/>
          <p:cNvCxnSpPr>
            <a:endCxn id="101" idx="2"/>
          </p:cNvCxnSpPr>
          <p:nvPr/>
        </p:nvCxnSpPr>
        <p:spPr>
          <a:xfrm flipV="1">
            <a:off x="1497960" y="3148200"/>
            <a:ext cx="201960" cy="446760"/>
          </a:xfrm>
          <a:prstGeom prst="straightConnector1">
            <a:avLst/>
          </a:prstGeom>
          <a:ln w="31750">
            <a:solidFill>
              <a:srgbClr val="FF3300"/>
            </a:solidFill>
            <a:tailEnd len="med" type="arrow" w="med"/>
          </a:ln>
        </p:spPr>
      </p:cxnSp>
      <p:cxnSp>
        <p:nvCxnSpPr>
          <p:cNvPr id="102" name="Straight Arrow Connector 17"/>
          <p:cNvCxnSpPr/>
          <p:nvPr/>
        </p:nvCxnSpPr>
        <p:spPr>
          <a:xfrm flipV="1">
            <a:off x="2104920" y="3264480"/>
            <a:ext cx="463320" cy="382680"/>
          </a:xfrm>
          <a:prstGeom prst="straightConnector1">
            <a:avLst/>
          </a:prstGeom>
          <a:ln w="31750">
            <a:solidFill>
              <a:srgbClr val="FF3300"/>
            </a:solidFill>
            <a:tailEnd len="med" type="arrow" w="med"/>
          </a:ln>
        </p:spPr>
      </p:cxnSp>
      <p:graphicFrame>
        <p:nvGraphicFramePr>
          <p:cNvPr id="103" name="Table 18"/>
          <p:cNvGraphicFramePr/>
          <p:nvPr/>
        </p:nvGraphicFramePr>
        <p:xfrm>
          <a:off x="434520" y="972360"/>
          <a:ext cx="3865680" cy="1142640"/>
        </p:xfrm>
        <a:graphic>
          <a:graphicData uri="http://schemas.openxmlformats.org/drawingml/2006/table">
            <a:tbl>
              <a:tblPr/>
              <a:tblGrid>
                <a:gridCol w="1288440"/>
                <a:gridCol w="1288440"/>
                <a:gridCol w="1288440"/>
              </a:tblGrid>
              <a:tr h="380880">
                <a:tc>
                  <a:txBody>
                    <a:bodyPr anchor="t">
                      <a:noAutofit/>
                    </a:bodyPr>
                    <a:p>
                      <a:endParaRPr lang="en-US" sz="1800" b="1" u="none" strike="noStrike">
                        <a:solidFill>
                          <a:schemeClr val="lt1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</a:rPr>
                        <a:t>x (Age)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</a:rPr>
                        <a:t>y (Weight)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B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4" name="Table 20"/>
          <p:cNvGraphicFramePr/>
          <p:nvPr/>
        </p:nvGraphicFramePr>
        <p:xfrm>
          <a:off x="343440" y="2493720"/>
          <a:ext cx="1032120" cy="732240"/>
        </p:xfrm>
        <a:graphic>
          <a:graphicData uri="http://schemas.openxmlformats.org/drawingml/2006/table">
            <a:tbl>
              <a:tblPr/>
              <a:tblGrid>
                <a:gridCol w="516240"/>
                <a:gridCol w="51624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5" name="Table 22"/>
          <p:cNvGraphicFramePr/>
          <p:nvPr/>
        </p:nvGraphicFramePr>
        <p:xfrm>
          <a:off x="1331640" y="2416320"/>
          <a:ext cx="736200" cy="732240"/>
        </p:xfrm>
        <a:graphic>
          <a:graphicData uri="http://schemas.openxmlformats.org/drawingml/2006/table">
            <a:tbl>
              <a:tblPr/>
              <a:tblGrid>
                <a:gridCol w="73656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m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c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6" name="Table 23"/>
          <p:cNvGraphicFramePr/>
          <p:nvPr/>
        </p:nvGraphicFramePr>
        <p:xfrm>
          <a:off x="1871280" y="2625840"/>
          <a:ext cx="736200" cy="366120"/>
        </p:xfrm>
        <a:graphic>
          <a:graphicData uri="http://schemas.openxmlformats.org/drawingml/2006/table">
            <a:tbl>
              <a:tblPr/>
              <a:tblGrid>
                <a:gridCol w="73656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=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7" name="Table 24"/>
          <p:cNvGraphicFramePr/>
          <p:nvPr/>
        </p:nvGraphicFramePr>
        <p:xfrm>
          <a:off x="2345040" y="2487240"/>
          <a:ext cx="725400" cy="732240"/>
        </p:xfrm>
        <a:graphic>
          <a:graphicData uri="http://schemas.openxmlformats.org/drawingml/2006/table">
            <a:tbl>
              <a:tblPr/>
              <a:tblGrid>
                <a:gridCol w="72576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8" name="Left Bracket 25"/>
          <p:cNvSpPr/>
          <p:nvPr/>
        </p:nvSpPr>
        <p:spPr>
          <a:xfrm>
            <a:off x="434520" y="2561760"/>
            <a:ext cx="75960" cy="598320"/>
          </a:xfrm>
          <a:prstGeom prst="leftBracket">
            <a:avLst>
              <a:gd name="adj" fmla="val 8333"/>
            </a:avLst>
          </a:prstGeom>
          <a:noFill/>
          <a:ln w="3175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9" name="Left Bracket 27"/>
          <p:cNvSpPr/>
          <p:nvPr/>
        </p:nvSpPr>
        <p:spPr>
          <a:xfrm>
            <a:off x="2569320" y="2513160"/>
            <a:ext cx="101880" cy="646560"/>
          </a:xfrm>
          <a:prstGeom prst="leftBracket">
            <a:avLst>
              <a:gd name="adj" fmla="val 8333"/>
            </a:avLst>
          </a:prstGeom>
          <a:noFill/>
          <a:ln w="3175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0" name="Right Bracket 28"/>
          <p:cNvSpPr/>
          <p:nvPr/>
        </p:nvSpPr>
        <p:spPr>
          <a:xfrm>
            <a:off x="1200960" y="2512800"/>
            <a:ext cx="75960" cy="620640"/>
          </a:xfrm>
          <a:prstGeom prst="rightBracket">
            <a:avLst>
              <a:gd name="adj" fmla="val 8333"/>
            </a:avLst>
          </a:prstGeom>
          <a:noFill/>
          <a:ln w="3810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1" name="Right Bracket 29"/>
          <p:cNvSpPr/>
          <p:nvPr/>
        </p:nvSpPr>
        <p:spPr>
          <a:xfrm>
            <a:off x="2787480" y="2512800"/>
            <a:ext cx="75960" cy="646560"/>
          </a:xfrm>
          <a:prstGeom prst="rightBracket">
            <a:avLst>
              <a:gd name="adj" fmla="val 8333"/>
            </a:avLst>
          </a:prstGeom>
          <a:noFill/>
          <a:ln w="3810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2" name="Left Bracket 30"/>
          <p:cNvSpPr/>
          <p:nvPr/>
        </p:nvSpPr>
        <p:spPr>
          <a:xfrm>
            <a:off x="1467000" y="2523600"/>
            <a:ext cx="75960" cy="609120"/>
          </a:xfrm>
          <a:prstGeom prst="leftBracket">
            <a:avLst>
              <a:gd name="adj" fmla="val 8333"/>
            </a:avLst>
          </a:prstGeom>
          <a:noFill/>
          <a:ln w="28575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3" name="Right Bracket 31"/>
          <p:cNvSpPr/>
          <p:nvPr/>
        </p:nvSpPr>
        <p:spPr>
          <a:xfrm>
            <a:off x="1758240" y="2503800"/>
            <a:ext cx="102600" cy="639720"/>
          </a:xfrm>
          <a:prstGeom prst="rightBracket">
            <a:avLst>
              <a:gd name="adj" fmla="val 8333"/>
            </a:avLst>
          </a:prstGeom>
          <a:noFill/>
          <a:ln w="28575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14" name="Picture 3"/>
          <p:cNvPicPr/>
          <p:nvPr/>
        </p:nvPicPr>
        <p:blipFill>
          <a:blip r:embed="rId2"/>
          <a:stretch/>
        </p:blipFill>
        <p:spPr>
          <a:xfrm>
            <a:off x="9529920" y="4800600"/>
            <a:ext cx="1900080" cy="189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5" name="Picture 5"/>
          <p:cNvPicPr/>
          <p:nvPr/>
        </p:nvPicPr>
        <p:blipFill>
          <a:blip r:embed="rId3"/>
          <a:stretch/>
        </p:blipFill>
        <p:spPr>
          <a:xfrm>
            <a:off x="3780000" y="2384280"/>
            <a:ext cx="3064320" cy="194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6" name="Picture 6"/>
          <p:cNvPicPr/>
          <p:nvPr/>
        </p:nvPicPr>
        <p:blipFill>
          <a:blip r:embed="rId4"/>
          <a:stretch/>
        </p:blipFill>
        <p:spPr>
          <a:xfrm>
            <a:off x="8245440" y="1073880"/>
            <a:ext cx="3766320" cy="341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Right Bracket 7"/>
          <p:cNvSpPr/>
          <p:nvPr/>
        </p:nvSpPr>
        <p:spPr>
          <a:xfrm>
            <a:off x="757440" y="5371920"/>
            <a:ext cx="75960" cy="620640"/>
          </a:xfrm>
          <a:prstGeom prst="rightBracket">
            <a:avLst>
              <a:gd name="adj" fmla="val 8333"/>
            </a:avLst>
          </a:prstGeom>
          <a:noFill/>
          <a:ln w="3810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8" name="Left Bracket 8"/>
          <p:cNvSpPr/>
          <p:nvPr/>
        </p:nvSpPr>
        <p:spPr>
          <a:xfrm>
            <a:off x="353160" y="5371920"/>
            <a:ext cx="75960" cy="598320"/>
          </a:xfrm>
          <a:prstGeom prst="leftBracket">
            <a:avLst>
              <a:gd name="adj" fmla="val 8333"/>
            </a:avLst>
          </a:prstGeom>
          <a:noFill/>
          <a:ln w="3175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9" name="Table 9"/>
          <p:cNvGraphicFramePr/>
          <p:nvPr/>
        </p:nvGraphicFramePr>
        <p:xfrm>
          <a:off x="424080" y="5316840"/>
          <a:ext cx="312120" cy="732240"/>
        </p:xfrm>
        <a:graphic>
          <a:graphicData uri="http://schemas.openxmlformats.org/drawingml/2006/table">
            <a:tbl>
              <a:tblPr/>
              <a:tblGrid>
                <a:gridCol w="31212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0" name="Text Box 12"/>
          <p:cNvSpPr/>
          <p:nvPr/>
        </p:nvSpPr>
        <p:spPr>
          <a:xfrm>
            <a:off x="833760" y="5494680"/>
            <a:ext cx="1842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  +            c =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Right Bracket 13"/>
          <p:cNvSpPr/>
          <p:nvPr/>
        </p:nvSpPr>
        <p:spPr>
          <a:xfrm>
            <a:off x="1880280" y="5397480"/>
            <a:ext cx="75960" cy="620640"/>
          </a:xfrm>
          <a:prstGeom prst="rightBracket">
            <a:avLst>
              <a:gd name="adj" fmla="val 8333"/>
            </a:avLst>
          </a:prstGeom>
          <a:noFill/>
          <a:ln w="3810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2" name="Left Bracket 14"/>
          <p:cNvSpPr/>
          <p:nvPr/>
        </p:nvSpPr>
        <p:spPr>
          <a:xfrm>
            <a:off x="1475640" y="5397480"/>
            <a:ext cx="75960" cy="598320"/>
          </a:xfrm>
          <a:prstGeom prst="leftBracket">
            <a:avLst>
              <a:gd name="adj" fmla="val 8333"/>
            </a:avLst>
          </a:prstGeom>
          <a:noFill/>
          <a:ln w="3175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3" name="Table 19"/>
          <p:cNvGraphicFramePr/>
          <p:nvPr/>
        </p:nvGraphicFramePr>
        <p:xfrm>
          <a:off x="1546920" y="5342040"/>
          <a:ext cx="312120" cy="732240"/>
        </p:xfrm>
        <a:graphic>
          <a:graphicData uri="http://schemas.openxmlformats.org/drawingml/2006/table">
            <a:tbl>
              <a:tblPr/>
              <a:tblGrid>
                <a:gridCol w="31212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24" name="Table 21"/>
          <p:cNvGraphicFramePr/>
          <p:nvPr/>
        </p:nvGraphicFramePr>
        <p:xfrm>
          <a:off x="2350080" y="5360040"/>
          <a:ext cx="725400" cy="732240"/>
        </p:xfrm>
        <a:graphic>
          <a:graphicData uri="http://schemas.openxmlformats.org/drawingml/2006/table">
            <a:tbl>
              <a:tblPr/>
              <a:tblGrid>
                <a:gridCol w="72576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5" name="Left Bracket 26"/>
          <p:cNvSpPr/>
          <p:nvPr/>
        </p:nvSpPr>
        <p:spPr>
          <a:xfrm>
            <a:off x="2574360" y="5385960"/>
            <a:ext cx="101880" cy="646560"/>
          </a:xfrm>
          <a:prstGeom prst="leftBracket">
            <a:avLst>
              <a:gd name="adj" fmla="val 8333"/>
            </a:avLst>
          </a:prstGeom>
          <a:noFill/>
          <a:ln w="3175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6" name="Right Bracket 32"/>
          <p:cNvSpPr/>
          <p:nvPr/>
        </p:nvSpPr>
        <p:spPr>
          <a:xfrm>
            <a:off x="2792880" y="5385240"/>
            <a:ext cx="75960" cy="646560"/>
          </a:xfrm>
          <a:prstGeom prst="rightBracket">
            <a:avLst>
              <a:gd name="adj" fmla="val 8333"/>
            </a:avLst>
          </a:prstGeom>
          <a:noFill/>
          <a:ln w="3810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27" name="Picture 33"/>
          <p:cNvPicPr/>
          <p:nvPr/>
        </p:nvPicPr>
        <p:blipFill>
          <a:blip r:embed="rId5"/>
          <a:stretch/>
        </p:blipFill>
        <p:spPr>
          <a:xfrm>
            <a:off x="3651120" y="4707360"/>
            <a:ext cx="2268000" cy="2003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" name="Picture 34"/>
          <p:cNvPicPr/>
          <p:nvPr/>
        </p:nvPicPr>
        <p:blipFill>
          <a:blip r:embed="rId6"/>
          <a:stretch/>
        </p:blipFill>
        <p:spPr>
          <a:xfrm>
            <a:off x="6487200" y="4637880"/>
            <a:ext cx="2075400" cy="207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Text Box 35"/>
          <p:cNvSpPr/>
          <p:nvPr/>
        </p:nvSpPr>
        <p:spPr>
          <a:xfrm>
            <a:off x="721440" y="6109200"/>
            <a:ext cx="91404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m=0.5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c=0.5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Box 36"/>
          <p:cNvSpPr/>
          <p:nvPr/>
        </p:nvSpPr>
        <p:spPr>
          <a:xfrm>
            <a:off x="5930280" y="3160440"/>
            <a:ext cx="91404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m=0.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c=0.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Box 2"/>
          <p:cNvSpPr/>
          <p:nvPr/>
        </p:nvSpPr>
        <p:spPr>
          <a:xfrm>
            <a:off x="186840" y="4898880"/>
            <a:ext cx="30135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a1                  a2           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4800600" y="914400"/>
            <a:ext cx="3429000" cy="1371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X1   + X2 = 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059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3X1 + X2 = 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059"/>
            </a:endParaRPr>
          </a:p>
          <a:p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I) Row Space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059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   1) Substitution Method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059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   2) Gaussian Elimination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059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   3) Plot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059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192960" y="3938400"/>
            <a:ext cx="3429000" cy="1371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X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1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+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X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2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=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059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3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X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1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+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X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2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=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059"/>
            </a:endParaRPr>
          </a:p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C059"/>
            </a:endParaRPr>
          </a:p>
          <a:p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I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I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)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 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C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o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l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u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m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n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 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S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p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a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c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059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384840" y="226080"/>
            <a:ext cx="10515240" cy="5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vi-VN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Fitting </a:t>
            </a:r>
            <a:r>
              <a:rPr lang="vi-VN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a line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going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throug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h</a:t>
            </a:r>
            <a:r>
              <a:rPr lang="vi-VN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two</a:t>
            </a:r>
            <a:r>
              <a:rPr lang="vi-VN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vi-VN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points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(5):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Row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Space</a:t>
            </a:r>
            <a:endParaRPr lang="en-US" sz="2400" b="1" u="none" strike="noStrike">
              <a:solidFill>
                <a:schemeClr val="dk1"/>
              </a:solidFill>
              <a:effectLst/>
              <a:uFillTx/>
              <a:latin typeface="Arial Black"/>
            </a:endParaRPr>
          </a:p>
        </p:txBody>
      </p:sp>
      <p:sp>
        <p:nvSpPr>
          <p:cNvPr id="135" name="Text Box 3"/>
          <p:cNvSpPr/>
          <p:nvPr/>
        </p:nvSpPr>
        <p:spPr>
          <a:xfrm>
            <a:off x="1116360" y="3521160"/>
            <a:ext cx="1017000" cy="3679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</a:rPr>
              <a:t> 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6" name="Straight Arrow Connector 1"/>
          <p:cNvCxnSpPr/>
          <p:nvPr/>
        </p:nvCxnSpPr>
        <p:spPr>
          <a:xfrm flipH="1" flipV="1">
            <a:off x="1051920" y="3234600"/>
            <a:ext cx="252720" cy="346320"/>
          </a:xfrm>
          <a:prstGeom prst="straightConnector1">
            <a:avLst/>
          </a:prstGeom>
          <a:ln w="31750">
            <a:solidFill>
              <a:srgbClr val="FF3300"/>
            </a:solidFill>
            <a:tailEnd len="med" type="arrow" w="med"/>
          </a:ln>
        </p:spPr>
      </p:cxnSp>
      <p:cxnSp>
        <p:nvCxnSpPr>
          <p:cNvPr id="137" name="Straight Arrow Connector 2"/>
          <p:cNvCxnSpPr>
            <a:endCxn id="138" idx="2"/>
          </p:cNvCxnSpPr>
          <p:nvPr/>
        </p:nvCxnSpPr>
        <p:spPr>
          <a:xfrm flipV="1">
            <a:off x="1497960" y="3148200"/>
            <a:ext cx="201960" cy="446760"/>
          </a:xfrm>
          <a:prstGeom prst="straightConnector1">
            <a:avLst/>
          </a:prstGeom>
          <a:ln w="31750">
            <a:solidFill>
              <a:srgbClr val="FF3300"/>
            </a:solidFill>
            <a:tailEnd len="med" type="arrow" w="med"/>
          </a:ln>
        </p:spPr>
      </p:cxnSp>
      <p:cxnSp>
        <p:nvCxnSpPr>
          <p:cNvPr id="139" name="Straight Arrow Connector 3"/>
          <p:cNvCxnSpPr/>
          <p:nvPr/>
        </p:nvCxnSpPr>
        <p:spPr>
          <a:xfrm flipV="1">
            <a:off x="2104920" y="3264480"/>
            <a:ext cx="463320" cy="382680"/>
          </a:xfrm>
          <a:prstGeom prst="straightConnector1">
            <a:avLst/>
          </a:prstGeom>
          <a:ln w="31750">
            <a:solidFill>
              <a:srgbClr val="FF3300"/>
            </a:solidFill>
            <a:tailEnd len="med" type="arrow" w="med"/>
          </a:ln>
        </p:spPr>
      </p:cxnSp>
      <p:graphicFrame>
        <p:nvGraphicFramePr>
          <p:cNvPr id="140" name="Table 1"/>
          <p:cNvGraphicFramePr/>
          <p:nvPr/>
        </p:nvGraphicFramePr>
        <p:xfrm>
          <a:off x="434520" y="972360"/>
          <a:ext cx="3865680" cy="1142640"/>
        </p:xfrm>
        <a:graphic>
          <a:graphicData uri="http://schemas.openxmlformats.org/drawingml/2006/table">
            <a:tbl>
              <a:tblPr/>
              <a:tblGrid>
                <a:gridCol w="1288440"/>
                <a:gridCol w="1288440"/>
                <a:gridCol w="1288440"/>
              </a:tblGrid>
              <a:tr h="380880">
                <a:tc>
                  <a:txBody>
                    <a:bodyPr anchor="t">
                      <a:noAutofit/>
                    </a:bodyPr>
                    <a:p>
                      <a:endParaRPr lang="en-US" sz="1800" b="1" u="none" strike="noStrike">
                        <a:solidFill>
                          <a:schemeClr val="lt1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</a:rPr>
                        <a:t>x (Age)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</a:rPr>
                        <a:t>y </a:t>
                      </a: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</a:rPr>
                        <a:t>(Weig</a:t>
                      </a: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</a:rPr>
                        <a:t>ht)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B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1" name="Table 2"/>
          <p:cNvGraphicFramePr/>
          <p:nvPr/>
        </p:nvGraphicFramePr>
        <p:xfrm>
          <a:off x="343440" y="2493720"/>
          <a:ext cx="1032120" cy="732240"/>
        </p:xfrm>
        <a:graphic>
          <a:graphicData uri="http://schemas.openxmlformats.org/drawingml/2006/table">
            <a:tbl>
              <a:tblPr/>
              <a:tblGrid>
                <a:gridCol w="516240"/>
                <a:gridCol w="51624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42" name="Table 7"/>
          <p:cNvGraphicFramePr/>
          <p:nvPr/>
        </p:nvGraphicFramePr>
        <p:xfrm>
          <a:off x="1331640" y="2416320"/>
          <a:ext cx="736200" cy="732240"/>
        </p:xfrm>
        <a:graphic>
          <a:graphicData uri="http://schemas.openxmlformats.org/drawingml/2006/table">
            <a:tbl>
              <a:tblPr/>
              <a:tblGrid>
                <a:gridCol w="73656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m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c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43" name="Table 8"/>
          <p:cNvGraphicFramePr/>
          <p:nvPr/>
        </p:nvGraphicFramePr>
        <p:xfrm>
          <a:off x="1871280" y="2625840"/>
          <a:ext cx="736200" cy="366120"/>
        </p:xfrm>
        <a:graphic>
          <a:graphicData uri="http://schemas.openxmlformats.org/drawingml/2006/table">
            <a:tbl>
              <a:tblPr/>
              <a:tblGrid>
                <a:gridCol w="73656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=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44" name="Table 10"/>
          <p:cNvGraphicFramePr/>
          <p:nvPr/>
        </p:nvGraphicFramePr>
        <p:xfrm>
          <a:off x="2345040" y="2487240"/>
          <a:ext cx="725400" cy="732240"/>
        </p:xfrm>
        <a:graphic>
          <a:graphicData uri="http://schemas.openxmlformats.org/drawingml/2006/table">
            <a:tbl>
              <a:tblPr/>
              <a:tblGrid>
                <a:gridCol w="72576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5" name="Left Bracket 1"/>
          <p:cNvSpPr/>
          <p:nvPr/>
        </p:nvSpPr>
        <p:spPr>
          <a:xfrm>
            <a:off x="434520" y="2561760"/>
            <a:ext cx="75960" cy="598320"/>
          </a:xfrm>
          <a:prstGeom prst="leftBracket">
            <a:avLst>
              <a:gd name="adj" fmla="val 8333"/>
            </a:avLst>
          </a:prstGeom>
          <a:noFill/>
          <a:ln w="3175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6" name="Left Bracket 2"/>
          <p:cNvSpPr/>
          <p:nvPr/>
        </p:nvSpPr>
        <p:spPr>
          <a:xfrm>
            <a:off x="2569320" y="2513160"/>
            <a:ext cx="101880" cy="646560"/>
          </a:xfrm>
          <a:prstGeom prst="leftBracket">
            <a:avLst>
              <a:gd name="adj" fmla="val 8333"/>
            </a:avLst>
          </a:prstGeom>
          <a:noFill/>
          <a:ln w="3175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7" name="Right Bracket 1"/>
          <p:cNvSpPr/>
          <p:nvPr/>
        </p:nvSpPr>
        <p:spPr>
          <a:xfrm>
            <a:off x="1200960" y="2512800"/>
            <a:ext cx="75960" cy="620640"/>
          </a:xfrm>
          <a:prstGeom prst="rightBracket">
            <a:avLst>
              <a:gd name="adj" fmla="val 8333"/>
            </a:avLst>
          </a:prstGeom>
          <a:noFill/>
          <a:ln w="3810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8" name="Right Bracket 3"/>
          <p:cNvSpPr/>
          <p:nvPr/>
        </p:nvSpPr>
        <p:spPr>
          <a:xfrm>
            <a:off x="2787480" y="2512800"/>
            <a:ext cx="75960" cy="646560"/>
          </a:xfrm>
          <a:prstGeom prst="rightBracket">
            <a:avLst>
              <a:gd name="adj" fmla="val 8333"/>
            </a:avLst>
          </a:prstGeom>
          <a:noFill/>
          <a:ln w="3810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9" name="Left Bracket 4"/>
          <p:cNvSpPr/>
          <p:nvPr/>
        </p:nvSpPr>
        <p:spPr>
          <a:xfrm>
            <a:off x="1467000" y="2523600"/>
            <a:ext cx="75960" cy="609120"/>
          </a:xfrm>
          <a:prstGeom prst="leftBracket">
            <a:avLst>
              <a:gd name="adj" fmla="val 8333"/>
            </a:avLst>
          </a:prstGeom>
          <a:noFill/>
          <a:ln w="28575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0" name="Right Bracket 4"/>
          <p:cNvSpPr/>
          <p:nvPr/>
        </p:nvSpPr>
        <p:spPr>
          <a:xfrm>
            <a:off x="1758240" y="2503800"/>
            <a:ext cx="102600" cy="639720"/>
          </a:xfrm>
          <a:prstGeom prst="rightBracket">
            <a:avLst>
              <a:gd name="adj" fmla="val 8333"/>
            </a:avLst>
          </a:prstGeom>
          <a:noFill/>
          <a:ln w="28575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4584600" y="914400"/>
            <a:ext cx="3429000" cy="3130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X1   + X2 = 1 (1)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059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3X1 + X2 = 2 (2)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059"/>
            </a:endParaRPr>
          </a:p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C059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1) Substitution Method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059"/>
            </a:endParaRPr>
          </a:p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C059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(1) → X1 = 1 – X2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059"/>
            </a:endParaRPr>
          </a:p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C059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Substitute to (2):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059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3(1 – X2) + X2 = 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059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3 – 3X2 + X2 = 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059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3 – 2X2 = 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059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X2 = ½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059"/>
            </a:endParaRPr>
          </a:p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C059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Substitute to (1):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059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X1 = 1 – X2 = 1 – ½ = 1/2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059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8040960" y="914400"/>
            <a:ext cx="3429000" cy="2927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X1   + X2 = 1 (1)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059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3X1 + X2 = 2 (2)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059"/>
            </a:endParaRPr>
          </a:p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C059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2) Gaussian Elimination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059"/>
            </a:endParaRPr>
          </a:p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C059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1) Multiply both side of (1) with -1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059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- X1 – X2 = -1 (1’)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059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2) (1’) + (2):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059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-X1 - X2 + 3X1 + X2 = -1 + 2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059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2X1 = 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059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X1 = 1/2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059"/>
            </a:endParaRPr>
          </a:p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C059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Substitute to (1):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059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X2 = 1 – X2 = 1 – ½ = 1/2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059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361800" y="4343400"/>
            <a:ext cx="3429000" cy="1371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X1   + X2 = 1 (1)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059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3X1 + X2 = 2 (2)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059"/>
            </a:endParaRPr>
          </a:p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C059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3) Plot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059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X1 = X2 = 1/2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059"/>
            </a:endParaRPr>
          </a:p>
        </p:txBody>
      </p:sp>
      <p:pic>
        <p:nvPicPr>
          <p:cNvPr id="154" name="Picture 1"/>
          <p:cNvPicPr/>
          <p:nvPr/>
        </p:nvPicPr>
        <p:blipFill>
          <a:blip r:embed="rId2"/>
          <a:stretch/>
        </p:blipFill>
        <p:spPr>
          <a:xfrm>
            <a:off x="2191680" y="4235400"/>
            <a:ext cx="2773080" cy="2514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5" name="Picture 11"/>
          <p:cNvPicPr/>
          <p:nvPr/>
        </p:nvPicPr>
        <p:blipFill>
          <a:blip r:embed="rId3"/>
          <a:stretch/>
        </p:blipFill>
        <p:spPr>
          <a:xfrm>
            <a:off x="5306400" y="4244760"/>
            <a:ext cx="2514600" cy="2503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384840" y="226080"/>
            <a:ext cx="10515240" cy="5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vi-VN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Fitting a line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going through</a:t>
            </a:r>
            <a:r>
              <a:rPr lang="vi-VN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two</a:t>
            </a:r>
            <a:r>
              <a:rPr lang="vi-VN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points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(5): Column Space</a:t>
            </a:r>
            <a:endParaRPr lang="en-US" sz="2400" b="1" u="none" strike="noStrike">
              <a:solidFill>
                <a:schemeClr val="dk1"/>
              </a:solidFill>
              <a:effectLst/>
              <a:uFillTx/>
              <a:latin typeface="Arial Black"/>
            </a:endParaRPr>
          </a:p>
        </p:txBody>
      </p:sp>
      <p:sp>
        <p:nvSpPr>
          <p:cNvPr id="157" name="Text Box 8"/>
          <p:cNvSpPr/>
          <p:nvPr/>
        </p:nvSpPr>
        <p:spPr>
          <a:xfrm>
            <a:off x="1116360" y="3485160"/>
            <a:ext cx="1017000" cy="3679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</a:rPr>
              <a:t> 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8" name="Straight Arrow Connector 4"/>
          <p:cNvCxnSpPr/>
          <p:nvPr/>
        </p:nvCxnSpPr>
        <p:spPr>
          <a:xfrm flipH="1" flipV="1">
            <a:off x="1051920" y="3234600"/>
            <a:ext cx="252720" cy="346320"/>
          </a:xfrm>
          <a:prstGeom prst="straightConnector1">
            <a:avLst/>
          </a:prstGeom>
          <a:ln w="31750">
            <a:solidFill>
              <a:srgbClr val="FF3300"/>
            </a:solidFill>
            <a:tailEnd len="med" type="arrow" w="med"/>
          </a:ln>
        </p:spPr>
      </p:cxnSp>
      <p:cxnSp>
        <p:nvCxnSpPr>
          <p:cNvPr id="159" name="Straight Arrow Connector 5"/>
          <p:cNvCxnSpPr>
            <a:endCxn id="160" idx="2"/>
          </p:cNvCxnSpPr>
          <p:nvPr/>
        </p:nvCxnSpPr>
        <p:spPr>
          <a:xfrm flipV="1">
            <a:off x="1497960" y="3148200"/>
            <a:ext cx="201960" cy="446760"/>
          </a:xfrm>
          <a:prstGeom prst="straightConnector1">
            <a:avLst/>
          </a:prstGeom>
          <a:ln w="31750">
            <a:solidFill>
              <a:srgbClr val="FF3300"/>
            </a:solidFill>
            <a:tailEnd len="med" type="arrow" w="med"/>
          </a:ln>
        </p:spPr>
      </p:cxnSp>
      <p:cxnSp>
        <p:nvCxnSpPr>
          <p:cNvPr id="161" name="Straight Arrow Connector 6"/>
          <p:cNvCxnSpPr/>
          <p:nvPr/>
        </p:nvCxnSpPr>
        <p:spPr>
          <a:xfrm flipV="1">
            <a:off x="2104920" y="3264480"/>
            <a:ext cx="463320" cy="382680"/>
          </a:xfrm>
          <a:prstGeom prst="straightConnector1">
            <a:avLst/>
          </a:prstGeom>
          <a:ln w="31750">
            <a:solidFill>
              <a:srgbClr val="FF3300"/>
            </a:solidFill>
            <a:tailEnd len="med" type="arrow" w="med"/>
          </a:ln>
        </p:spPr>
      </p:cxnSp>
      <p:graphicFrame>
        <p:nvGraphicFramePr>
          <p:cNvPr id="162" name="Table 11"/>
          <p:cNvGraphicFramePr/>
          <p:nvPr/>
        </p:nvGraphicFramePr>
        <p:xfrm>
          <a:off x="434520" y="972360"/>
          <a:ext cx="3865680" cy="1142640"/>
        </p:xfrm>
        <a:graphic>
          <a:graphicData uri="http://schemas.openxmlformats.org/drawingml/2006/table">
            <a:tbl>
              <a:tblPr/>
              <a:tblGrid>
                <a:gridCol w="1288440"/>
                <a:gridCol w="1288440"/>
                <a:gridCol w="1288440"/>
              </a:tblGrid>
              <a:tr h="380880">
                <a:tc>
                  <a:txBody>
                    <a:bodyPr anchor="t">
                      <a:noAutofit/>
                    </a:bodyPr>
                    <a:p>
                      <a:endParaRPr lang="en-US" sz="1800" b="1" u="none" strike="noStrike">
                        <a:solidFill>
                          <a:schemeClr val="lt1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</a:rPr>
                        <a:t>x (Age)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</a:rPr>
                        <a:t>y (Weight)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B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3" name="Table 12"/>
          <p:cNvGraphicFramePr/>
          <p:nvPr/>
        </p:nvGraphicFramePr>
        <p:xfrm>
          <a:off x="343440" y="2493720"/>
          <a:ext cx="1032120" cy="732240"/>
        </p:xfrm>
        <a:graphic>
          <a:graphicData uri="http://schemas.openxmlformats.org/drawingml/2006/table">
            <a:tbl>
              <a:tblPr/>
              <a:tblGrid>
                <a:gridCol w="516240"/>
                <a:gridCol w="51624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64" name="Table 13"/>
          <p:cNvGraphicFramePr/>
          <p:nvPr/>
        </p:nvGraphicFramePr>
        <p:xfrm>
          <a:off x="1331640" y="2416320"/>
          <a:ext cx="736200" cy="732240"/>
        </p:xfrm>
        <a:graphic>
          <a:graphicData uri="http://schemas.openxmlformats.org/drawingml/2006/table">
            <a:tbl>
              <a:tblPr/>
              <a:tblGrid>
                <a:gridCol w="73656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m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c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65" name="Table 14"/>
          <p:cNvGraphicFramePr/>
          <p:nvPr/>
        </p:nvGraphicFramePr>
        <p:xfrm>
          <a:off x="1871280" y="2625840"/>
          <a:ext cx="736200" cy="366120"/>
        </p:xfrm>
        <a:graphic>
          <a:graphicData uri="http://schemas.openxmlformats.org/drawingml/2006/table">
            <a:tbl>
              <a:tblPr/>
              <a:tblGrid>
                <a:gridCol w="73656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=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66" name="Table 15"/>
          <p:cNvGraphicFramePr/>
          <p:nvPr/>
        </p:nvGraphicFramePr>
        <p:xfrm>
          <a:off x="2345040" y="2487240"/>
          <a:ext cx="725400" cy="732240"/>
        </p:xfrm>
        <a:graphic>
          <a:graphicData uri="http://schemas.openxmlformats.org/drawingml/2006/table">
            <a:tbl>
              <a:tblPr/>
              <a:tblGrid>
                <a:gridCol w="72576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7" name="Left Bracket 6"/>
          <p:cNvSpPr/>
          <p:nvPr/>
        </p:nvSpPr>
        <p:spPr>
          <a:xfrm>
            <a:off x="434520" y="2561760"/>
            <a:ext cx="75960" cy="598320"/>
          </a:xfrm>
          <a:prstGeom prst="leftBracket">
            <a:avLst>
              <a:gd name="adj" fmla="val 8333"/>
            </a:avLst>
          </a:prstGeom>
          <a:noFill/>
          <a:ln w="3175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8" name="Left Bracket 7"/>
          <p:cNvSpPr/>
          <p:nvPr/>
        </p:nvSpPr>
        <p:spPr>
          <a:xfrm>
            <a:off x="2569320" y="2513160"/>
            <a:ext cx="101880" cy="646560"/>
          </a:xfrm>
          <a:prstGeom prst="leftBracket">
            <a:avLst>
              <a:gd name="adj" fmla="val 8333"/>
            </a:avLst>
          </a:prstGeom>
          <a:noFill/>
          <a:ln w="3175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9" name="Right Bracket 5"/>
          <p:cNvSpPr/>
          <p:nvPr/>
        </p:nvSpPr>
        <p:spPr>
          <a:xfrm>
            <a:off x="1200960" y="2512800"/>
            <a:ext cx="75960" cy="620640"/>
          </a:xfrm>
          <a:prstGeom prst="rightBracket">
            <a:avLst>
              <a:gd name="adj" fmla="val 8333"/>
            </a:avLst>
          </a:prstGeom>
          <a:noFill/>
          <a:ln w="3810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0" name="Right Bracket 6"/>
          <p:cNvSpPr/>
          <p:nvPr/>
        </p:nvSpPr>
        <p:spPr>
          <a:xfrm>
            <a:off x="2787480" y="2512800"/>
            <a:ext cx="75960" cy="646560"/>
          </a:xfrm>
          <a:prstGeom prst="rightBracket">
            <a:avLst>
              <a:gd name="adj" fmla="val 8333"/>
            </a:avLst>
          </a:prstGeom>
          <a:noFill/>
          <a:ln w="3810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1" name="Left Bracket 11"/>
          <p:cNvSpPr/>
          <p:nvPr/>
        </p:nvSpPr>
        <p:spPr>
          <a:xfrm>
            <a:off x="1467000" y="2523600"/>
            <a:ext cx="75960" cy="609120"/>
          </a:xfrm>
          <a:prstGeom prst="leftBracket">
            <a:avLst>
              <a:gd name="adj" fmla="val 8333"/>
            </a:avLst>
          </a:prstGeom>
          <a:noFill/>
          <a:ln w="28575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2" name="Right Bracket 8"/>
          <p:cNvSpPr/>
          <p:nvPr/>
        </p:nvSpPr>
        <p:spPr>
          <a:xfrm>
            <a:off x="1758240" y="2503800"/>
            <a:ext cx="102600" cy="639720"/>
          </a:xfrm>
          <a:prstGeom prst="rightBracket">
            <a:avLst>
              <a:gd name="adj" fmla="val 8333"/>
            </a:avLst>
          </a:prstGeom>
          <a:noFill/>
          <a:ln w="28575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73" name="Picture 10"/>
          <p:cNvPicPr/>
          <p:nvPr/>
        </p:nvPicPr>
        <p:blipFill>
          <a:blip r:embed="rId2"/>
          <a:stretch/>
        </p:blipFill>
        <p:spPr>
          <a:xfrm>
            <a:off x="7254000" y="4473360"/>
            <a:ext cx="2357280" cy="234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4" name="Right Bracket 9"/>
          <p:cNvSpPr/>
          <p:nvPr/>
        </p:nvSpPr>
        <p:spPr>
          <a:xfrm>
            <a:off x="757440" y="5371920"/>
            <a:ext cx="75960" cy="620640"/>
          </a:xfrm>
          <a:prstGeom prst="rightBracket">
            <a:avLst>
              <a:gd name="adj" fmla="val 8333"/>
            </a:avLst>
          </a:prstGeom>
          <a:noFill/>
          <a:ln w="3810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5" name="Left Bracket 15"/>
          <p:cNvSpPr/>
          <p:nvPr/>
        </p:nvSpPr>
        <p:spPr>
          <a:xfrm>
            <a:off x="353160" y="5371920"/>
            <a:ext cx="75960" cy="598320"/>
          </a:xfrm>
          <a:prstGeom prst="leftBracket">
            <a:avLst>
              <a:gd name="adj" fmla="val 8333"/>
            </a:avLst>
          </a:prstGeom>
          <a:noFill/>
          <a:ln w="3175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76" name="Table 16"/>
          <p:cNvGraphicFramePr/>
          <p:nvPr/>
        </p:nvGraphicFramePr>
        <p:xfrm>
          <a:off x="424080" y="5316840"/>
          <a:ext cx="312120" cy="732240"/>
        </p:xfrm>
        <a:graphic>
          <a:graphicData uri="http://schemas.openxmlformats.org/drawingml/2006/table">
            <a:tbl>
              <a:tblPr/>
              <a:tblGrid>
                <a:gridCol w="31212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7" name="Text Box 9"/>
          <p:cNvSpPr/>
          <p:nvPr/>
        </p:nvSpPr>
        <p:spPr>
          <a:xfrm>
            <a:off x="833760" y="5494680"/>
            <a:ext cx="1842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  +           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 =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Right Bracket 10"/>
          <p:cNvSpPr/>
          <p:nvPr/>
        </p:nvSpPr>
        <p:spPr>
          <a:xfrm>
            <a:off x="1880280" y="5397480"/>
            <a:ext cx="75960" cy="620640"/>
          </a:xfrm>
          <a:prstGeom prst="rightBracket">
            <a:avLst>
              <a:gd name="adj" fmla="val 8333"/>
            </a:avLst>
          </a:prstGeom>
          <a:noFill/>
          <a:ln w="3810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9" name="Left Bracket 16"/>
          <p:cNvSpPr/>
          <p:nvPr/>
        </p:nvSpPr>
        <p:spPr>
          <a:xfrm>
            <a:off x="1475640" y="5397480"/>
            <a:ext cx="75960" cy="598320"/>
          </a:xfrm>
          <a:prstGeom prst="leftBracket">
            <a:avLst>
              <a:gd name="adj" fmla="val 8333"/>
            </a:avLst>
          </a:prstGeom>
          <a:noFill/>
          <a:ln w="3175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0" name="Table 17"/>
          <p:cNvGraphicFramePr/>
          <p:nvPr/>
        </p:nvGraphicFramePr>
        <p:xfrm>
          <a:off x="1546920" y="5342040"/>
          <a:ext cx="312120" cy="732240"/>
        </p:xfrm>
        <a:graphic>
          <a:graphicData uri="http://schemas.openxmlformats.org/drawingml/2006/table">
            <a:tbl>
              <a:tblPr/>
              <a:tblGrid>
                <a:gridCol w="31212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81" name="Table 25"/>
          <p:cNvGraphicFramePr/>
          <p:nvPr/>
        </p:nvGraphicFramePr>
        <p:xfrm>
          <a:off x="2350080" y="5360040"/>
          <a:ext cx="725400" cy="732240"/>
        </p:xfrm>
        <a:graphic>
          <a:graphicData uri="http://schemas.openxmlformats.org/drawingml/2006/table">
            <a:tbl>
              <a:tblPr/>
              <a:tblGrid>
                <a:gridCol w="72576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82" name="Left Bracket 17"/>
          <p:cNvSpPr/>
          <p:nvPr/>
        </p:nvSpPr>
        <p:spPr>
          <a:xfrm>
            <a:off x="2574360" y="5385960"/>
            <a:ext cx="101880" cy="646560"/>
          </a:xfrm>
          <a:prstGeom prst="leftBracket">
            <a:avLst>
              <a:gd name="adj" fmla="val 8333"/>
            </a:avLst>
          </a:prstGeom>
          <a:noFill/>
          <a:ln w="3175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3" name="Right Bracket 11"/>
          <p:cNvSpPr/>
          <p:nvPr/>
        </p:nvSpPr>
        <p:spPr>
          <a:xfrm>
            <a:off x="2792880" y="5385240"/>
            <a:ext cx="75960" cy="646560"/>
          </a:xfrm>
          <a:prstGeom prst="rightBracket">
            <a:avLst>
              <a:gd name="adj" fmla="val 8333"/>
            </a:avLst>
          </a:prstGeom>
          <a:noFill/>
          <a:ln w="3810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84" name="Picture 13"/>
          <p:cNvPicPr/>
          <p:nvPr/>
        </p:nvPicPr>
        <p:blipFill>
          <a:blip r:embed="rId3"/>
          <a:stretch/>
        </p:blipFill>
        <p:spPr>
          <a:xfrm>
            <a:off x="3429000" y="2514600"/>
            <a:ext cx="2846160" cy="2514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5" name="Picture 14"/>
          <p:cNvPicPr/>
          <p:nvPr/>
        </p:nvPicPr>
        <p:blipFill>
          <a:blip r:embed="rId4"/>
          <a:stretch/>
        </p:blipFill>
        <p:spPr>
          <a:xfrm>
            <a:off x="6629400" y="918720"/>
            <a:ext cx="3429000" cy="3424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6" name="Text Box 10"/>
          <p:cNvSpPr/>
          <p:nvPr/>
        </p:nvSpPr>
        <p:spPr>
          <a:xfrm>
            <a:off x="721440" y="6109200"/>
            <a:ext cx="9140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m=0.5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c=0.5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Box 14"/>
          <p:cNvSpPr/>
          <p:nvPr/>
        </p:nvSpPr>
        <p:spPr>
          <a:xfrm>
            <a:off x="186840" y="4898880"/>
            <a:ext cx="30135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a1                  a2           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192960" y="3938400"/>
            <a:ext cx="3429000" cy="1371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X1   + X2 = 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059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3X1 + X2 = 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059"/>
            </a:endParaRPr>
          </a:p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C059"/>
            </a:endParaRPr>
          </a:p>
          <a:p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059"/>
              </a:rPr>
              <a:t>II) Column Space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059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647640" y="114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M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u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l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t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i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p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l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y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i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n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g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v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e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c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t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o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r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s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: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T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h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e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d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o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t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(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s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c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a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l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a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r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/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i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n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n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e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r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)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p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r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o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d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u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c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t</a:t>
            </a:r>
            <a:endParaRPr lang="en-US" sz="2400" b="1" u="none" strike="noStrike">
              <a:solidFill>
                <a:schemeClr val="dk1"/>
              </a:solidFill>
              <a:effectLst/>
              <a:uFillTx/>
              <a:latin typeface="C059"/>
            </a:endParaRPr>
          </a:p>
        </p:txBody>
      </p:sp>
      <p:sp>
        <p:nvSpPr>
          <p:cNvPr id="190" name="Text Box 4"/>
          <p:cNvSpPr/>
          <p:nvPr/>
        </p:nvSpPr>
        <p:spPr>
          <a:xfrm>
            <a:off x="387360" y="6192720"/>
            <a:ext cx="5416200" cy="33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https://xaktly.com/MatrixOperations.html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1" name="Content Placeholder 18"/>
          <p:cNvPicPr/>
          <p:nvPr/>
        </p:nvPicPr>
        <p:blipFill>
          <a:blip r:embed="rId1"/>
          <a:stretch/>
        </p:blipFill>
        <p:spPr>
          <a:xfrm>
            <a:off x="6211080" y="1503360"/>
            <a:ext cx="5364720" cy="435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2" name="Picture 19"/>
          <p:cNvPicPr/>
          <p:nvPr/>
        </p:nvPicPr>
        <p:blipFill>
          <a:blip r:embed="rId2"/>
          <a:srcRect l="1625" t="11761" r="2208" b="2997"/>
          <a:stretch/>
        </p:blipFill>
        <p:spPr>
          <a:xfrm>
            <a:off x="774720" y="1686240"/>
            <a:ext cx="4655520" cy="364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Text Box 20"/>
          <p:cNvSpPr/>
          <p:nvPr/>
        </p:nvSpPr>
        <p:spPr>
          <a:xfrm>
            <a:off x="6856200" y="6192720"/>
            <a:ext cx="4869360" cy="33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https://en.wikipedia.org/wiki/Inner_product_space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A 3×3 matrix multiplied by a 3×1 vector</a:t>
            </a:r>
            <a:endParaRPr lang="en-US" sz="2400" b="1" u="none" strike="noStrike">
              <a:solidFill>
                <a:schemeClr val="dk1"/>
              </a:solidFill>
              <a:effectLst/>
              <a:uFillTx/>
              <a:latin typeface="C059"/>
            </a:endParaRPr>
          </a:p>
        </p:txBody>
      </p:sp>
      <p:pic>
        <p:nvPicPr>
          <p:cNvPr id="195" name="Content Placeholder 3"/>
          <p:cNvPicPr/>
          <p:nvPr/>
        </p:nvPicPr>
        <p:blipFill>
          <a:blip r:embed="rId1"/>
          <a:stretch/>
        </p:blipFill>
        <p:spPr>
          <a:xfrm>
            <a:off x="720360" y="1591920"/>
            <a:ext cx="8123760" cy="384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6" name="Text Box 4"/>
          <p:cNvSpPr/>
          <p:nvPr/>
        </p:nvSpPr>
        <p:spPr>
          <a:xfrm>
            <a:off x="540720" y="6066720"/>
            <a:ext cx="5416200" cy="33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https://xaktly.com/MatrixOperations.html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97" name="Group 21"/>
          <p:cNvGrpSpPr/>
          <p:nvPr/>
        </p:nvGrpSpPr>
        <p:grpSpPr>
          <a:xfrm>
            <a:off x="9429480" y="1591920"/>
            <a:ext cx="1770480" cy="1225800"/>
            <a:chOff x="9429480" y="1591920"/>
            <a:chExt cx="1770480" cy="1225800"/>
          </a:xfrm>
        </p:grpSpPr>
        <p:grpSp>
          <p:nvGrpSpPr>
            <p:cNvPr id="198" name="Group 6"/>
            <p:cNvGrpSpPr/>
            <p:nvPr/>
          </p:nvGrpSpPr>
          <p:grpSpPr>
            <a:xfrm>
              <a:off x="9429480" y="1591920"/>
              <a:ext cx="1770480" cy="568440"/>
              <a:chOff x="9429480" y="1591920"/>
              <a:chExt cx="1770480" cy="568440"/>
            </a:xfrm>
          </p:grpSpPr>
          <p:sp>
            <p:nvSpPr>
              <p:cNvPr id="199" name="Text Box 5"/>
              <p:cNvSpPr/>
              <p:nvPr/>
            </p:nvSpPr>
            <p:spPr>
              <a:xfrm>
                <a:off x="9429480" y="1591920"/>
                <a:ext cx="1770120" cy="565560"/>
              </a:xfrm>
              <a:prstGeom prst="rect">
                <a:avLst/>
              </a:prstGeom>
              <a:blipFill rotWithShape="0">
                <a:blip r:embed="rId2"/>
                <a:srcRect/>
                <a:tile tx="0" ty="0" sx="100000" sy="100000" algn="tl"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r>
                  <a:rPr lang="en-US" sz="1800" b="0" u="none" strike="noStrike">
                    <a:solidFill>
                      <a:srgbClr val="FFFFFF">
                        <a:alpha val="1000"/>
                      </a:srgbClr>
                    </a:solidFill>
                    <a:effectLst/>
                    <a:uFillTx/>
                    <a:latin typeface="Arial"/>
                  </a:rPr>
                  <a:t> 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0" name="Left Bracket 8"/>
              <p:cNvSpPr/>
              <p:nvPr/>
            </p:nvSpPr>
            <p:spPr>
              <a:xfrm>
                <a:off x="9429480" y="1601640"/>
                <a:ext cx="75960" cy="545760"/>
              </a:xfrm>
              <a:prstGeom prst="leftBracket">
                <a:avLst>
                  <a:gd name="adj" fmla="val 8333"/>
                </a:avLst>
              </a:prstGeom>
              <a:noFill/>
              <a:ln w="28575">
                <a:solidFill>
                  <a:srgbClr val="5B9BD5">
                    <a:shade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1" name="Left Bracket 9"/>
              <p:cNvSpPr/>
              <p:nvPr/>
            </p:nvSpPr>
            <p:spPr>
              <a:xfrm>
                <a:off x="10872000" y="1604160"/>
                <a:ext cx="75960" cy="545760"/>
              </a:xfrm>
              <a:prstGeom prst="leftBracket">
                <a:avLst>
                  <a:gd name="adj" fmla="val 8333"/>
                </a:avLst>
              </a:prstGeom>
              <a:noFill/>
              <a:ln w="28575">
                <a:solidFill>
                  <a:srgbClr val="5B9BD5">
                    <a:shade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2" name="Left Bracket 10"/>
              <p:cNvSpPr/>
              <p:nvPr/>
            </p:nvSpPr>
            <p:spPr>
              <a:xfrm rot="10800000">
                <a:off x="10048320" y="1614600"/>
                <a:ext cx="75960" cy="545760"/>
              </a:xfrm>
              <a:prstGeom prst="leftBracket">
                <a:avLst>
                  <a:gd name="adj" fmla="val 0"/>
                </a:avLst>
              </a:prstGeom>
              <a:noFill/>
              <a:ln w="28575">
                <a:solidFill>
                  <a:srgbClr val="5B9BD5">
                    <a:shade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3" name="Left Bracket 12"/>
              <p:cNvSpPr/>
              <p:nvPr/>
            </p:nvSpPr>
            <p:spPr>
              <a:xfrm rot="10800000">
                <a:off x="11124000" y="1604520"/>
                <a:ext cx="75960" cy="545760"/>
              </a:xfrm>
              <a:prstGeom prst="leftBracket">
                <a:avLst>
                  <a:gd name="adj" fmla="val 0"/>
                </a:avLst>
              </a:prstGeom>
              <a:noFill/>
              <a:ln w="28575">
                <a:solidFill>
                  <a:srgbClr val="5B9BD5">
                    <a:shade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4" name="Left Bracket 13"/>
              <p:cNvSpPr/>
              <p:nvPr/>
            </p:nvSpPr>
            <p:spPr>
              <a:xfrm>
                <a:off x="10199520" y="1631520"/>
                <a:ext cx="76320" cy="524160"/>
              </a:xfrm>
              <a:prstGeom prst="leftBracket">
                <a:avLst>
                  <a:gd name="adj" fmla="val 8333"/>
                </a:avLst>
              </a:prstGeom>
              <a:noFill/>
              <a:ln w="28575">
                <a:solidFill>
                  <a:srgbClr val="5B9BD5">
                    <a:shade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5" name="Left Bracket 14"/>
              <p:cNvSpPr/>
              <p:nvPr/>
            </p:nvSpPr>
            <p:spPr>
              <a:xfrm rot="10800000">
                <a:off x="10488240" y="1631160"/>
                <a:ext cx="91080" cy="515880"/>
              </a:xfrm>
              <a:prstGeom prst="leftBracket">
                <a:avLst>
                  <a:gd name="adj" fmla="val 8333"/>
                </a:avLst>
              </a:prstGeom>
              <a:noFill/>
              <a:ln w="28575">
                <a:solidFill>
                  <a:srgbClr val="5B9BD5">
                    <a:shade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06" name="Text Box 11"/>
            <p:cNvSpPr/>
            <p:nvPr/>
          </p:nvSpPr>
          <p:spPr>
            <a:xfrm>
              <a:off x="9842760" y="2447280"/>
              <a:ext cx="1114200" cy="370440"/>
            </a:xfrm>
            <a:prstGeom prst="rect">
              <a:avLst/>
            </a:prstGeom>
            <a:blipFill rotWithShape="0">
              <a:blip r:embed="rId3"/>
              <a:srcRect/>
              <a:tile tx="0" ty="0" sx="100000" sy="100000" algn="tl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rgbClr val="FFFFFF">
                      <a:alpha val="1000"/>
                    </a:srgbClr>
                  </a:solidFill>
                  <a:effectLst/>
                  <a:uFillTx/>
                  <a:latin typeface="Arial"/>
                </a:rPr>
                <a:t> 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07" name="Straight Arrow Connector 15"/>
            <p:cNvCxnSpPr/>
            <p:nvPr/>
          </p:nvCxnSpPr>
          <p:spPr>
            <a:xfrm flipH="1" flipV="1">
              <a:off x="9842760" y="2221200"/>
              <a:ext cx="188280" cy="286200"/>
            </a:xfrm>
            <a:prstGeom prst="straightConnector1">
              <a:avLst/>
            </a:prstGeom>
            <a:ln w="31750">
              <a:solidFill>
                <a:srgbClr val="FF3300"/>
              </a:solidFill>
              <a:tailEnd len="med" type="arrow" w="med"/>
            </a:ln>
          </p:spPr>
        </p:cxnSp>
        <p:cxnSp>
          <p:nvCxnSpPr>
            <p:cNvPr id="208" name="Straight Arrow Connector 16"/>
            <p:cNvCxnSpPr/>
            <p:nvPr/>
          </p:nvCxnSpPr>
          <p:spPr>
            <a:xfrm flipV="1">
              <a:off x="10266120" y="2188080"/>
              <a:ext cx="79200" cy="372600"/>
            </a:xfrm>
            <a:prstGeom prst="straightConnector1">
              <a:avLst/>
            </a:prstGeom>
            <a:ln w="31750">
              <a:solidFill>
                <a:srgbClr val="FF3300"/>
              </a:solidFill>
              <a:tailEnd len="med" type="arrow" w="med"/>
            </a:ln>
          </p:spPr>
        </p:cxnSp>
        <p:cxnSp>
          <p:nvCxnSpPr>
            <p:cNvPr id="209" name="Straight Arrow Connector 17"/>
            <p:cNvCxnSpPr/>
            <p:nvPr/>
          </p:nvCxnSpPr>
          <p:spPr>
            <a:xfrm flipV="1">
              <a:off x="10831320" y="2181600"/>
              <a:ext cx="150120" cy="331920"/>
            </a:xfrm>
            <a:prstGeom prst="straightConnector1">
              <a:avLst/>
            </a:prstGeom>
            <a:ln w="31750">
              <a:solidFill>
                <a:srgbClr val="FF3300"/>
              </a:solidFill>
              <a:tailEnd len="med" type="arrow" w="med"/>
            </a:ln>
          </p:spPr>
        </p:cxn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739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vi-VN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Fitting a line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going through</a:t>
            </a:r>
            <a:r>
              <a:rPr lang="vi-VN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multiple </a:t>
            </a:r>
            <a:r>
              <a:rPr lang="vi-VN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points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with one feature</a:t>
            </a:r>
            <a:endParaRPr lang="en-US" sz="2400" b="1" u="none" strike="noStrike">
              <a:solidFill>
                <a:schemeClr val="dk1"/>
              </a:solidFill>
              <a:effectLst/>
              <a:uFillTx/>
              <a:latin typeface="Arial Black"/>
            </a:endParaRPr>
          </a:p>
        </p:txBody>
      </p:sp>
      <p:graphicFrame>
        <p:nvGraphicFramePr>
          <p:cNvPr id="211" name="Table 5"/>
          <p:cNvGraphicFramePr/>
          <p:nvPr/>
        </p:nvGraphicFramePr>
        <p:xfrm>
          <a:off x="5576400" y="1434600"/>
          <a:ext cx="5862600" cy="2712600"/>
        </p:xfrm>
        <a:graphic>
          <a:graphicData uri="http://schemas.openxmlformats.org/drawingml/2006/table">
            <a:tbl>
              <a:tblPr/>
              <a:tblGrid>
                <a:gridCol w="844560"/>
                <a:gridCol w="2423520"/>
                <a:gridCol w="2594520"/>
              </a:tblGrid>
              <a:tr h="380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</a:rPr>
                        <a:t>Plant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</a:rPr>
                        <a:t>x (Age, month)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</a:rPr>
                        <a:t>independent variable/predictor/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</a:rPr>
                        <a:t>feature/attribute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</a:rPr>
                        <a:t>y (Weight, gram)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</a:rPr>
                        <a:t>dependent/Predicted variable/class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B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vi-VN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C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...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...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...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12" name="Text Box 2"/>
          <p:cNvSpPr/>
          <p:nvPr/>
        </p:nvSpPr>
        <p:spPr>
          <a:xfrm>
            <a:off x="4969440" y="4350960"/>
            <a:ext cx="653832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Matrix format: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13" name="Table 4"/>
          <p:cNvGraphicFramePr/>
          <p:nvPr/>
        </p:nvGraphicFramePr>
        <p:xfrm>
          <a:off x="7246800" y="4514760"/>
          <a:ext cx="1218240" cy="1480320"/>
        </p:xfrm>
        <a:graphic>
          <a:graphicData uri="http://schemas.openxmlformats.org/drawingml/2006/table">
            <a:tbl>
              <a:tblPr/>
              <a:tblGrid>
                <a:gridCol w="607680"/>
                <a:gridCol w="610560"/>
              </a:tblGrid>
              <a:tr h="3700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700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700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700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...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...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14" name="Table 20"/>
          <p:cNvGraphicFramePr/>
          <p:nvPr/>
        </p:nvGraphicFramePr>
        <p:xfrm>
          <a:off x="8481240" y="4822920"/>
          <a:ext cx="607320" cy="740160"/>
        </p:xfrm>
        <a:graphic>
          <a:graphicData uri="http://schemas.openxmlformats.org/drawingml/2006/table">
            <a:tbl>
              <a:tblPr/>
              <a:tblGrid>
                <a:gridCol w="607680"/>
              </a:tblGrid>
              <a:tr h="3700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m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700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c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15" name="Table 21"/>
          <p:cNvGraphicFramePr/>
          <p:nvPr/>
        </p:nvGraphicFramePr>
        <p:xfrm>
          <a:off x="9684360" y="4488120"/>
          <a:ext cx="607320" cy="1480320"/>
        </p:xfrm>
        <a:graphic>
          <a:graphicData uri="http://schemas.openxmlformats.org/drawingml/2006/table">
            <a:tbl>
              <a:tblPr/>
              <a:tblGrid>
                <a:gridCol w="607680"/>
              </a:tblGrid>
              <a:tr h="3700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700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700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700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...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16" name="Table 23"/>
          <p:cNvGraphicFramePr/>
          <p:nvPr/>
        </p:nvGraphicFramePr>
        <p:xfrm>
          <a:off x="9044280" y="5008320"/>
          <a:ext cx="607320" cy="370080"/>
        </p:xfrm>
        <a:graphic>
          <a:graphicData uri="http://schemas.openxmlformats.org/drawingml/2006/table">
            <a:tbl>
              <a:tblPr/>
              <a:tblGrid>
                <a:gridCol w="607680"/>
              </a:tblGrid>
              <a:tr h="3700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=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7" name="Left Bracket 24"/>
          <p:cNvSpPr/>
          <p:nvPr/>
        </p:nvSpPr>
        <p:spPr>
          <a:xfrm>
            <a:off x="7354440" y="4563000"/>
            <a:ext cx="75240" cy="1330560"/>
          </a:xfrm>
          <a:prstGeom prst="leftBracket">
            <a:avLst>
              <a:gd name="adj" fmla="val 8333"/>
            </a:avLst>
          </a:prstGeom>
          <a:noFill/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8" name="Left Bracket 25"/>
          <p:cNvSpPr/>
          <p:nvPr/>
        </p:nvSpPr>
        <p:spPr>
          <a:xfrm>
            <a:off x="9702000" y="4584600"/>
            <a:ext cx="75240" cy="1330560"/>
          </a:xfrm>
          <a:prstGeom prst="leftBracket">
            <a:avLst>
              <a:gd name="adj" fmla="val 8333"/>
            </a:avLst>
          </a:prstGeom>
          <a:noFill/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9" name="Left Bracket 26"/>
          <p:cNvSpPr/>
          <p:nvPr/>
        </p:nvSpPr>
        <p:spPr>
          <a:xfrm rot="10800000">
            <a:off x="10232640" y="4584960"/>
            <a:ext cx="75240" cy="1330560"/>
          </a:xfrm>
          <a:prstGeom prst="leftBracket">
            <a:avLst>
              <a:gd name="adj" fmla="val 8333"/>
            </a:avLst>
          </a:prstGeom>
          <a:noFill/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0" name="Left Bracket 27"/>
          <p:cNvSpPr/>
          <p:nvPr/>
        </p:nvSpPr>
        <p:spPr>
          <a:xfrm rot="10800000">
            <a:off x="8318880" y="4572360"/>
            <a:ext cx="75240" cy="1330560"/>
          </a:xfrm>
          <a:prstGeom prst="leftBracket">
            <a:avLst>
              <a:gd name="adj" fmla="val 8333"/>
            </a:avLst>
          </a:prstGeom>
          <a:noFill/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1" name="Left Bracket 28"/>
          <p:cNvSpPr/>
          <p:nvPr/>
        </p:nvSpPr>
        <p:spPr>
          <a:xfrm>
            <a:off x="8615160" y="4822920"/>
            <a:ext cx="83520" cy="723600"/>
          </a:xfrm>
          <a:prstGeom prst="leftBracket">
            <a:avLst>
              <a:gd name="adj" fmla="val 8333"/>
            </a:avLst>
          </a:prstGeom>
          <a:noFill/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2" name="Left Bracket 29"/>
          <p:cNvSpPr/>
          <p:nvPr/>
        </p:nvSpPr>
        <p:spPr>
          <a:xfrm rot="10800000">
            <a:off x="8899920" y="4823280"/>
            <a:ext cx="83520" cy="723600"/>
          </a:xfrm>
          <a:prstGeom prst="leftBracket">
            <a:avLst>
              <a:gd name="adj" fmla="val 8333"/>
            </a:avLst>
          </a:prstGeom>
          <a:noFill/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Box 30"/>
          <p:cNvSpPr/>
          <p:nvPr/>
        </p:nvSpPr>
        <p:spPr>
          <a:xfrm>
            <a:off x="8394120" y="6163200"/>
            <a:ext cx="1017000" cy="3679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</a:rPr>
              <a:t> 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4" name="Straight Arrow Connector 31"/>
          <p:cNvCxnSpPr/>
          <p:nvPr/>
        </p:nvCxnSpPr>
        <p:spPr>
          <a:xfrm flipH="1" flipV="1">
            <a:off x="8184960" y="6017760"/>
            <a:ext cx="366120" cy="241560"/>
          </a:xfrm>
          <a:prstGeom prst="straightConnector1">
            <a:avLst/>
          </a:prstGeom>
          <a:ln w="28575">
            <a:solidFill>
              <a:srgbClr val="5B9BD5"/>
            </a:solidFill>
            <a:tailEnd len="med" type="arrow" w="med"/>
          </a:ln>
        </p:spPr>
      </p:cxnSp>
      <p:cxnSp>
        <p:nvCxnSpPr>
          <p:cNvPr id="225" name="Straight Arrow Connector 32"/>
          <p:cNvCxnSpPr/>
          <p:nvPr/>
        </p:nvCxnSpPr>
        <p:spPr>
          <a:xfrm flipV="1">
            <a:off x="8791920" y="5669640"/>
            <a:ext cx="360" cy="562320"/>
          </a:xfrm>
          <a:prstGeom prst="straightConnector1">
            <a:avLst/>
          </a:prstGeom>
          <a:ln w="31750">
            <a:solidFill>
              <a:srgbClr val="5B9BD5"/>
            </a:solidFill>
            <a:tailEnd len="med" type="arrow" w="med"/>
          </a:ln>
        </p:spPr>
      </p:cxnSp>
      <p:cxnSp>
        <p:nvCxnSpPr>
          <p:cNvPr id="226" name="Straight Arrow Connector 33"/>
          <p:cNvCxnSpPr/>
          <p:nvPr/>
        </p:nvCxnSpPr>
        <p:spPr>
          <a:xfrm flipV="1">
            <a:off x="9324720" y="5972040"/>
            <a:ext cx="453240" cy="278280"/>
          </a:xfrm>
          <a:prstGeom prst="straightConnector1">
            <a:avLst/>
          </a:prstGeom>
          <a:ln w="31750">
            <a:solidFill>
              <a:srgbClr val="5B9BD5"/>
            </a:solidFill>
            <a:tailEnd len="med" type="arrow" w="med"/>
          </a:ln>
        </p:spPr>
      </p:cxnSp>
      <p:pic>
        <p:nvPicPr>
          <p:cNvPr id="227" name="Picture 3"/>
          <p:cNvPicPr/>
          <p:nvPr/>
        </p:nvPicPr>
        <p:blipFill>
          <a:blip r:embed="rId2"/>
          <a:stretch/>
        </p:blipFill>
        <p:spPr>
          <a:xfrm>
            <a:off x="226080" y="1396440"/>
            <a:ext cx="4750200" cy="4743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765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Cannot </a:t>
            </a:r>
            <a:r>
              <a:rPr lang="vi-VN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Fitting a line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 going through</a:t>
            </a:r>
            <a:r>
              <a:rPr lang="vi-VN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 three points</a:t>
            </a:r>
            <a:endParaRPr lang="en-US" sz="2400" b="1" u="none" strike="noStrike">
              <a:solidFill>
                <a:schemeClr val="dk1"/>
              </a:solidFill>
              <a:effectLst/>
              <a:uFillTx/>
              <a:latin typeface="C059"/>
            </a:endParaRPr>
          </a:p>
        </p:txBody>
      </p:sp>
      <p:graphicFrame>
        <p:nvGraphicFramePr>
          <p:cNvPr id="229" name="Table 5"/>
          <p:cNvGraphicFramePr/>
          <p:nvPr/>
        </p:nvGraphicFramePr>
        <p:xfrm>
          <a:off x="6894720" y="1024200"/>
          <a:ext cx="3865680" cy="1523520"/>
        </p:xfrm>
        <a:graphic>
          <a:graphicData uri="http://schemas.openxmlformats.org/drawingml/2006/table">
            <a:tbl>
              <a:tblPr/>
              <a:tblGrid>
                <a:gridCol w="1288440"/>
                <a:gridCol w="1288440"/>
                <a:gridCol w="1288440"/>
              </a:tblGrid>
              <a:tr h="380880">
                <a:tc>
                  <a:txBody>
                    <a:bodyPr anchor="t">
                      <a:noAutofit/>
                    </a:bodyPr>
                    <a:p>
                      <a:endParaRPr lang="en-US" sz="1800" b="1" u="none" strike="noStrike">
                        <a:solidFill>
                          <a:schemeClr val="lt1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</a:rPr>
                        <a:t>x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</a:rPr>
                        <a:t>y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B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vi-VN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C</a:t>
                      </a: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’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vi-VN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30" name="Text Box 2"/>
          <p:cNvSpPr/>
          <p:nvPr/>
        </p:nvSpPr>
        <p:spPr>
          <a:xfrm>
            <a:off x="4888800" y="3075840"/>
            <a:ext cx="6966360" cy="202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There is not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a line going through A, B and C’: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            y = m * x + 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For A: 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1     = m * 1 + c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For B: 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2     = m * 3 + 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vi-VN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For C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’</a:t>
            </a:r>
            <a:r>
              <a:rPr lang="vi-VN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: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	</a:t>
            </a:r>
            <a:r>
              <a:rPr lang="vi-VN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2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   </a:t>
            </a:r>
            <a:r>
              <a:rPr lang="vi-VN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= m * 4 + c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=&gt; Why 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Rewrite system of 3 equations into matrix format: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1" name="Group 19"/>
          <p:cNvGrpSpPr/>
          <p:nvPr/>
        </p:nvGrpSpPr>
        <p:grpSpPr>
          <a:xfrm>
            <a:off x="7220520" y="5141520"/>
            <a:ext cx="1956600" cy="1460160"/>
            <a:chOff x="7220520" y="5141520"/>
            <a:chExt cx="1956600" cy="1460160"/>
          </a:xfrm>
        </p:grpSpPr>
        <p:sp>
          <p:nvSpPr>
            <p:cNvPr id="232" name="Text Box 7"/>
            <p:cNvSpPr/>
            <p:nvPr/>
          </p:nvSpPr>
          <p:spPr>
            <a:xfrm>
              <a:off x="7270200" y="5141520"/>
              <a:ext cx="1885680" cy="832680"/>
            </a:xfrm>
            <a:prstGeom prst="rect">
              <a:avLst/>
            </a:prstGeom>
            <a:blipFill rotWithShape="0">
              <a:blip r:embed="rId1"/>
              <a:srcRect/>
              <a:tile tx="0" ty="0" sx="100000" sy="100000" algn="tl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rgbClr val="FFFFFF">
                      <a:alpha val="1000"/>
                    </a:srgbClr>
                  </a:solidFill>
                  <a:effectLst/>
                  <a:uFillTx/>
                  <a:latin typeface="Arial"/>
                </a:rPr>
                <a:t> 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3" name="Left Bracket 8"/>
            <p:cNvSpPr/>
            <p:nvPr/>
          </p:nvSpPr>
          <p:spPr>
            <a:xfrm>
              <a:off x="7220520" y="5200560"/>
              <a:ext cx="132840" cy="776880"/>
            </a:xfrm>
            <a:prstGeom prst="leftBracket">
              <a:avLst>
                <a:gd name="adj" fmla="val 8333"/>
              </a:avLst>
            </a:prstGeom>
            <a:noFill/>
            <a:ln w="28575">
              <a:solidFill>
                <a:srgbClr val="5B9BD5">
                  <a:shade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4" name="Left Bracket 9"/>
            <p:cNvSpPr/>
            <p:nvPr/>
          </p:nvSpPr>
          <p:spPr>
            <a:xfrm>
              <a:off x="8760960" y="5203080"/>
              <a:ext cx="132840" cy="776880"/>
            </a:xfrm>
            <a:prstGeom prst="leftBracket">
              <a:avLst>
                <a:gd name="adj" fmla="val 8333"/>
              </a:avLst>
            </a:prstGeom>
            <a:noFill/>
            <a:ln w="28575">
              <a:solidFill>
                <a:srgbClr val="5B9BD5">
                  <a:shade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5" name="Left Bracket 10"/>
            <p:cNvSpPr/>
            <p:nvPr/>
          </p:nvSpPr>
          <p:spPr>
            <a:xfrm rot="10800000">
              <a:off x="7835760" y="5195880"/>
              <a:ext cx="132840" cy="776880"/>
            </a:xfrm>
            <a:prstGeom prst="leftBracket">
              <a:avLst>
                <a:gd name="adj" fmla="val 0"/>
              </a:avLst>
            </a:prstGeom>
            <a:noFill/>
            <a:ln w="28575">
              <a:solidFill>
                <a:srgbClr val="5B9BD5">
                  <a:shade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" name="Left Bracket 12"/>
            <p:cNvSpPr/>
            <p:nvPr/>
          </p:nvSpPr>
          <p:spPr>
            <a:xfrm rot="10800000">
              <a:off x="9044280" y="5193360"/>
              <a:ext cx="132840" cy="776880"/>
            </a:xfrm>
            <a:prstGeom prst="leftBracket">
              <a:avLst>
                <a:gd name="adj" fmla="val 0"/>
              </a:avLst>
            </a:prstGeom>
            <a:noFill/>
            <a:ln w="28575">
              <a:solidFill>
                <a:srgbClr val="5B9BD5">
                  <a:shade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" name="Left Bracket 13"/>
            <p:cNvSpPr/>
            <p:nvPr/>
          </p:nvSpPr>
          <p:spPr>
            <a:xfrm>
              <a:off x="8110800" y="5306040"/>
              <a:ext cx="79560" cy="586440"/>
            </a:xfrm>
            <a:prstGeom prst="leftBracket">
              <a:avLst>
                <a:gd name="adj" fmla="val 8333"/>
              </a:avLst>
            </a:prstGeom>
            <a:noFill/>
            <a:ln w="28575">
              <a:solidFill>
                <a:srgbClr val="5B9BD5">
                  <a:shade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8" name="Left Bracket 14"/>
            <p:cNvSpPr/>
            <p:nvPr/>
          </p:nvSpPr>
          <p:spPr>
            <a:xfrm rot="10800000">
              <a:off x="8400960" y="5291280"/>
              <a:ext cx="79560" cy="586440"/>
            </a:xfrm>
            <a:prstGeom prst="leftBracket">
              <a:avLst>
                <a:gd name="adj" fmla="val 8333"/>
              </a:avLst>
            </a:prstGeom>
            <a:noFill/>
            <a:ln w="28575">
              <a:solidFill>
                <a:srgbClr val="5B9BD5">
                  <a:shade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9" name="Text Box 11"/>
            <p:cNvSpPr/>
            <p:nvPr/>
          </p:nvSpPr>
          <p:spPr>
            <a:xfrm>
              <a:off x="7740000" y="6233760"/>
              <a:ext cx="1017000" cy="367920"/>
            </a:xfrm>
            <a:prstGeom prst="rect">
              <a:avLst/>
            </a:prstGeom>
            <a:blipFill rotWithShape="0">
              <a:blip r:embed="rId2"/>
              <a:srcRect/>
              <a:tile tx="0" ty="0" sx="100000" sy="100000" algn="tl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rgbClr val="FFFFFF">
                      <a:alpha val="1000"/>
                    </a:srgbClr>
                  </a:solidFill>
                  <a:effectLst/>
                  <a:uFillTx/>
                  <a:latin typeface="Arial"/>
                </a:rPr>
                <a:t> 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40" name="Straight Arrow Connector 15"/>
            <p:cNvCxnSpPr/>
            <p:nvPr/>
          </p:nvCxnSpPr>
          <p:spPr>
            <a:xfrm flipH="1" flipV="1">
              <a:off x="7740000" y="6007680"/>
              <a:ext cx="188280" cy="285840"/>
            </a:xfrm>
            <a:prstGeom prst="straightConnector1">
              <a:avLst/>
            </a:prstGeom>
            <a:ln w="31750">
              <a:solidFill>
                <a:srgbClr val="FF3300"/>
              </a:solidFill>
              <a:tailEnd len="med" type="arrow" w="med"/>
            </a:ln>
          </p:spPr>
        </p:cxnSp>
        <p:cxnSp>
          <p:nvCxnSpPr>
            <p:cNvPr id="241" name="Straight Arrow Connector 16"/>
            <p:cNvCxnSpPr/>
            <p:nvPr/>
          </p:nvCxnSpPr>
          <p:spPr>
            <a:xfrm flipV="1">
              <a:off x="8163360" y="5974560"/>
              <a:ext cx="79200" cy="372600"/>
            </a:xfrm>
            <a:prstGeom prst="straightConnector1">
              <a:avLst/>
            </a:prstGeom>
            <a:ln w="31750">
              <a:solidFill>
                <a:srgbClr val="FF3300"/>
              </a:solidFill>
              <a:tailEnd len="med" type="arrow" w="med"/>
            </a:ln>
          </p:spPr>
        </p:cxnSp>
        <p:cxnSp>
          <p:nvCxnSpPr>
            <p:cNvPr id="242" name="Straight Arrow Connector 17"/>
            <p:cNvCxnSpPr/>
            <p:nvPr/>
          </p:nvCxnSpPr>
          <p:spPr>
            <a:xfrm flipV="1">
              <a:off x="8728560" y="5984640"/>
              <a:ext cx="200880" cy="315360"/>
            </a:xfrm>
            <a:prstGeom prst="straightConnector1">
              <a:avLst/>
            </a:prstGeom>
            <a:ln w="31750">
              <a:solidFill>
                <a:srgbClr val="FF3300"/>
              </a:solidFill>
              <a:tailEnd len="med" type="arrow" w="med"/>
            </a:ln>
          </p:spPr>
        </p:cxnSp>
      </p:grpSp>
      <p:pic>
        <p:nvPicPr>
          <p:cNvPr id="243" name="Picture 20"/>
          <p:cNvPicPr/>
          <p:nvPr/>
        </p:nvPicPr>
        <p:blipFill>
          <a:blip r:embed="rId3"/>
          <a:stretch/>
        </p:blipFill>
        <p:spPr>
          <a:xfrm>
            <a:off x="577080" y="2165400"/>
            <a:ext cx="3810240" cy="3804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4" name=""/>
          <p:cNvSpPr/>
          <p:nvPr/>
        </p:nvSpPr>
        <p:spPr>
          <a:xfrm flipV="1">
            <a:off x="963000" y="2658600"/>
            <a:ext cx="3429000" cy="2057400"/>
          </a:xfrm>
          <a:prstGeom prst="line">
            <a:avLst/>
          </a:prstGeom>
          <a:ln w="0">
            <a:solidFill>
              <a:srgbClr val="A7074B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55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Cannot </a:t>
            </a:r>
            <a:r>
              <a:rPr lang="vi-VN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Fitting a line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 going through</a:t>
            </a:r>
            <a:r>
              <a:rPr lang="vi-VN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 three points</a:t>
            </a:r>
            <a:endParaRPr lang="en-US" sz="2400" b="1" u="none" strike="noStrike">
              <a:solidFill>
                <a:schemeClr val="dk1"/>
              </a:solidFill>
              <a:effectLst/>
              <a:uFillTx/>
              <a:latin typeface="C059"/>
            </a:endParaRPr>
          </a:p>
        </p:txBody>
      </p:sp>
      <p:pic>
        <p:nvPicPr>
          <p:cNvPr id="246" name="Content Placeholder 3"/>
          <p:cNvPicPr/>
          <p:nvPr/>
        </p:nvPicPr>
        <p:blipFill>
          <a:blip r:embed="rId1"/>
          <a:stretch/>
        </p:blipFill>
        <p:spPr>
          <a:xfrm>
            <a:off x="719640" y="3006000"/>
            <a:ext cx="5038920" cy="3021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7" name="Picture 4"/>
          <p:cNvPicPr/>
          <p:nvPr/>
        </p:nvPicPr>
        <p:blipFill>
          <a:blip r:embed="rId2"/>
          <a:stretch/>
        </p:blipFill>
        <p:spPr>
          <a:xfrm>
            <a:off x="6607440" y="3134880"/>
            <a:ext cx="4732920" cy="27630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48" name="Group 19"/>
          <p:cNvGrpSpPr/>
          <p:nvPr/>
        </p:nvGrpSpPr>
        <p:grpSpPr>
          <a:xfrm>
            <a:off x="7860600" y="1177920"/>
            <a:ext cx="1956600" cy="1460160"/>
            <a:chOff x="7860600" y="1177920"/>
            <a:chExt cx="1956600" cy="1460160"/>
          </a:xfrm>
        </p:grpSpPr>
        <p:sp>
          <p:nvSpPr>
            <p:cNvPr id="249" name="Text Box 7"/>
            <p:cNvSpPr/>
            <p:nvPr/>
          </p:nvSpPr>
          <p:spPr>
            <a:xfrm>
              <a:off x="7910280" y="1177920"/>
              <a:ext cx="1885680" cy="832680"/>
            </a:xfrm>
            <a:prstGeom prst="rect">
              <a:avLst/>
            </a:prstGeom>
            <a:blipFill rotWithShape="0">
              <a:blip r:embed="rId3"/>
              <a:srcRect/>
              <a:tile tx="0" ty="0" sx="100000" sy="100000" algn="tl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rgbClr val="FFFFFF">
                      <a:alpha val="1000"/>
                    </a:srgbClr>
                  </a:solidFill>
                  <a:effectLst/>
                  <a:uFillTx/>
                  <a:latin typeface="Arial"/>
                </a:rPr>
                <a:t> 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0" name="Left Bracket 8"/>
            <p:cNvSpPr/>
            <p:nvPr/>
          </p:nvSpPr>
          <p:spPr>
            <a:xfrm>
              <a:off x="7860600" y="1236960"/>
              <a:ext cx="132840" cy="776880"/>
            </a:xfrm>
            <a:prstGeom prst="leftBracket">
              <a:avLst>
                <a:gd name="adj" fmla="val 8333"/>
              </a:avLst>
            </a:prstGeom>
            <a:noFill/>
            <a:ln w="28575">
              <a:solidFill>
                <a:srgbClr val="5B9BD5">
                  <a:shade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1" name="Left Bracket 9"/>
            <p:cNvSpPr/>
            <p:nvPr/>
          </p:nvSpPr>
          <p:spPr>
            <a:xfrm>
              <a:off x="9401400" y="1239480"/>
              <a:ext cx="132840" cy="776880"/>
            </a:xfrm>
            <a:prstGeom prst="leftBracket">
              <a:avLst>
                <a:gd name="adj" fmla="val 8333"/>
              </a:avLst>
            </a:prstGeom>
            <a:noFill/>
            <a:ln w="28575">
              <a:solidFill>
                <a:srgbClr val="5B9BD5">
                  <a:shade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2" name="Left Bracket 10"/>
            <p:cNvSpPr/>
            <p:nvPr/>
          </p:nvSpPr>
          <p:spPr>
            <a:xfrm rot="10800000">
              <a:off x="8475840" y="1232280"/>
              <a:ext cx="132840" cy="776880"/>
            </a:xfrm>
            <a:prstGeom prst="leftBracket">
              <a:avLst>
                <a:gd name="adj" fmla="val 0"/>
              </a:avLst>
            </a:prstGeom>
            <a:noFill/>
            <a:ln w="28575">
              <a:solidFill>
                <a:srgbClr val="5B9BD5">
                  <a:shade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3" name="Left Bracket 12"/>
            <p:cNvSpPr/>
            <p:nvPr/>
          </p:nvSpPr>
          <p:spPr>
            <a:xfrm rot="10800000">
              <a:off x="9684360" y="1229760"/>
              <a:ext cx="132840" cy="776880"/>
            </a:xfrm>
            <a:prstGeom prst="leftBracket">
              <a:avLst>
                <a:gd name="adj" fmla="val 0"/>
              </a:avLst>
            </a:prstGeom>
            <a:noFill/>
            <a:ln w="28575">
              <a:solidFill>
                <a:srgbClr val="5B9BD5">
                  <a:shade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4" name="Left Bracket 13"/>
            <p:cNvSpPr/>
            <p:nvPr/>
          </p:nvSpPr>
          <p:spPr>
            <a:xfrm>
              <a:off x="8750880" y="1342440"/>
              <a:ext cx="79560" cy="586440"/>
            </a:xfrm>
            <a:prstGeom prst="leftBracket">
              <a:avLst>
                <a:gd name="adj" fmla="val 8333"/>
              </a:avLst>
            </a:prstGeom>
            <a:noFill/>
            <a:ln w="28575">
              <a:solidFill>
                <a:srgbClr val="5B9BD5">
                  <a:shade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5" name="Left Bracket 14"/>
            <p:cNvSpPr/>
            <p:nvPr/>
          </p:nvSpPr>
          <p:spPr>
            <a:xfrm rot="10800000">
              <a:off x="9041040" y="1327320"/>
              <a:ext cx="79560" cy="586440"/>
            </a:xfrm>
            <a:prstGeom prst="leftBracket">
              <a:avLst>
                <a:gd name="adj" fmla="val 8333"/>
              </a:avLst>
            </a:prstGeom>
            <a:noFill/>
            <a:ln w="28575">
              <a:solidFill>
                <a:srgbClr val="5B9BD5">
                  <a:shade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Text Box 11"/>
            <p:cNvSpPr/>
            <p:nvPr/>
          </p:nvSpPr>
          <p:spPr>
            <a:xfrm>
              <a:off x="8380080" y="2270160"/>
              <a:ext cx="1017000" cy="367920"/>
            </a:xfrm>
            <a:prstGeom prst="rect">
              <a:avLst/>
            </a:prstGeom>
            <a:blipFill rotWithShape="0">
              <a:blip r:embed="rId4"/>
              <a:srcRect/>
              <a:tile tx="0" ty="0" sx="100000" sy="100000" algn="tl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rgbClr val="FFFFFF">
                      <a:alpha val="1000"/>
                    </a:srgbClr>
                  </a:solidFill>
                  <a:effectLst/>
                  <a:uFillTx/>
                  <a:latin typeface="Arial"/>
                </a:rPr>
                <a:t> 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57" name="Straight Arrow Connector 15"/>
            <p:cNvCxnSpPr/>
            <p:nvPr/>
          </p:nvCxnSpPr>
          <p:spPr>
            <a:xfrm flipH="1" flipV="1">
              <a:off x="8380080" y="2043720"/>
              <a:ext cx="188280" cy="286200"/>
            </a:xfrm>
            <a:prstGeom prst="straightConnector1">
              <a:avLst/>
            </a:prstGeom>
            <a:ln w="31750">
              <a:solidFill>
                <a:srgbClr val="FF3300"/>
              </a:solidFill>
              <a:tailEnd len="med" type="arrow" w="med"/>
            </a:ln>
          </p:spPr>
        </p:cxnSp>
        <p:cxnSp>
          <p:nvCxnSpPr>
            <p:cNvPr id="258" name="Straight Arrow Connector 16"/>
            <p:cNvCxnSpPr/>
            <p:nvPr/>
          </p:nvCxnSpPr>
          <p:spPr>
            <a:xfrm flipV="1">
              <a:off x="8803440" y="2010600"/>
              <a:ext cx="79200" cy="372600"/>
            </a:xfrm>
            <a:prstGeom prst="straightConnector1">
              <a:avLst/>
            </a:prstGeom>
            <a:ln w="31750">
              <a:solidFill>
                <a:srgbClr val="FF3300"/>
              </a:solidFill>
              <a:tailEnd len="med" type="arrow" w="med"/>
            </a:ln>
          </p:spPr>
        </p:cxnSp>
        <p:cxnSp>
          <p:nvCxnSpPr>
            <p:cNvPr id="259" name="Straight Arrow Connector 17"/>
            <p:cNvCxnSpPr/>
            <p:nvPr/>
          </p:nvCxnSpPr>
          <p:spPr>
            <a:xfrm flipV="1">
              <a:off x="9368640" y="2021040"/>
              <a:ext cx="200880" cy="315360"/>
            </a:xfrm>
            <a:prstGeom prst="straightConnector1">
              <a:avLst/>
            </a:prstGeom>
            <a:ln w="31750">
              <a:solidFill>
                <a:srgbClr val="FF3300"/>
              </a:solidFill>
              <a:tailEnd len="med" type="arrow" w="med"/>
            </a:ln>
          </p:spPr>
        </p:cxnSp>
      </p:grpSp>
      <p:sp>
        <p:nvSpPr>
          <p:cNvPr id="260" name="Right Bracket 2"/>
          <p:cNvSpPr/>
          <p:nvPr/>
        </p:nvSpPr>
        <p:spPr>
          <a:xfrm>
            <a:off x="2433240" y="1238760"/>
            <a:ext cx="75960" cy="811080"/>
          </a:xfrm>
          <a:prstGeom prst="rightBracket">
            <a:avLst>
              <a:gd name="adj" fmla="val 8333"/>
            </a:avLst>
          </a:prstGeom>
          <a:noFill/>
          <a:ln w="3810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1" name="Left Bracket 5"/>
          <p:cNvSpPr/>
          <p:nvPr/>
        </p:nvSpPr>
        <p:spPr>
          <a:xfrm>
            <a:off x="2028960" y="1237320"/>
            <a:ext cx="75960" cy="813240"/>
          </a:xfrm>
          <a:prstGeom prst="leftBracket">
            <a:avLst>
              <a:gd name="adj" fmla="val 8333"/>
            </a:avLst>
          </a:prstGeom>
          <a:noFill/>
          <a:ln w="3175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62" name="Table 6"/>
          <p:cNvGraphicFramePr/>
          <p:nvPr/>
        </p:nvGraphicFramePr>
        <p:xfrm>
          <a:off x="2096640" y="1106640"/>
          <a:ext cx="320400" cy="1098360"/>
        </p:xfrm>
        <a:graphic>
          <a:graphicData uri="http://schemas.openxmlformats.org/drawingml/2006/table">
            <a:tbl>
              <a:tblPr/>
              <a:tblGrid>
                <a:gridCol w="32040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63" name="Text Box 18"/>
          <p:cNvSpPr/>
          <p:nvPr/>
        </p:nvSpPr>
        <p:spPr>
          <a:xfrm>
            <a:off x="2469240" y="1449360"/>
            <a:ext cx="1810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  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+     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      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 =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Right Bracket 20"/>
          <p:cNvSpPr/>
          <p:nvPr/>
        </p:nvSpPr>
        <p:spPr>
          <a:xfrm>
            <a:off x="3556080" y="1238040"/>
            <a:ext cx="92520" cy="811800"/>
          </a:xfrm>
          <a:prstGeom prst="rightBracket">
            <a:avLst>
              <a:gd name="adj" fmla="val 8333"/>
            </a:avLst>
          </a:prstGeom>
          <a:noFill/>
          <a:ln w="3810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5" name="Left Bracket 21"/>
          <p:cNvSpPr/>
          <p:nvPr/>
        </p:nvSpPr>
        <p:spPr>
          <a:xfrm>
            <a:off x="3151440" y="1237320"/>
            <a:ext cx="92520" cy="813240"/>
          </a:xfrm>
          <a:prstGeom prst="leftBracket">
            <a:avLst>
              <a:gd name="adj" fmla="val 8333"/>
            </a:avLst>
          </a:prstGeom>
          <a:noFill/>
          <a:ln w="3175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66" name="Table 22"/>
          <p:cNvGraphicFramePr/>
          <p:nvPr/>
        </p:nvGraphicFramePr>
        <p:xfrm>
          <a:off x="3243600" y="1086120"/>
          <a:ext cx="312120" cy="1098360"/>
        </p:xfrm>
        <a:graphic>
          <a:graphicData uri="http://schemas.openxmlformats.org/drawingml/2006/table">
            <a:tbl>
              <a:tblPr/>
              <a:tblGrid>
                <a:gridCol w="31212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67" name="Table 23"/>
          <p:cNvGraphicFramePr/>
          <p:nvPr/>
        </p:nvGraphicFramePr>
        <p:xfrm>
          <a:off x="4050720" y="1116720"/>
          <a:ext cx="725400" cy="1098360"/>
        </p:xfrm>
        <a:graphic>
          <a:graphicData uri="http://schemas.openxmlformats.org/drawingml/2006/table">
            <a:tbl>
              <a:tblPr/>
              <a:tblGrid>
                <a:gridCol w="72576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68" name="Left Bracket 26"/>
          <p:cNvSpPr/>
          <p:nvPr/>
        </p:nvSpPr>
        <p:spPr>
          <a:xfrm>
            <a:off x="4167720" y="1237320"/>
            <a:ext cx="76320" cy="870840"/>
          </a:xfrm>
          <a:prstGeom prst="leftBracket">
            <a:avLst>
              <a:gd name="adj" fmla="val 8333"/>
            </a:avLst>
          </a:prstGeom>
          <a:noFill/>
          <a:ln w="3175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9" name="Right Bracket 32"/>
          <p:cNvSpPr/>
          <p:nvPr/>
        </p:nvSpPr>
        <p:spPr>
          <a:xfrm>
            <a:off x="4526280" y="1238040"/>
            <a:ext cx="75960" cy="869760"/>
          </a:xfrm>
          <a:prstGeom prst="rightBracket">
            <a:avLst>
              <a:gd name="adj" fmla="val 8333"/>
            </a:avLst>
          </a:prstGeom>
          <a:noFill/>
          <a:ln w="3810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Box 24"/>
          <p:cNvSpPr/>
          <p:nvPr/>
        </p:nvSpPr>
        <p:spPr>
          <a:xfrm>
            <a:off x="1916640" y="2214000"/>
            <a:ext cx="2981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Content Placeholder 27"/>
          <p:cNvPicPr/>
          <p:nvPr/>
        </p:nvPicPr>
        <p:blipFill>
          <a:blip r:embed="rId1"/>
          <a:stretch/>
        </p:blipFill>
        <p:spPr>
          <a:xfrm>
            <a:off x="275040" y="208800"/>
            <a:ext cx="6739560" cy="6439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2" name="Picture 29"/>
          <p:cNvPicPr/>
          <p:nvPr/>
        </p:nvPicPr>
        <p:blipFill>
          <a:blip r:embed="rId2"/>
          <a:stretch/>
        </p:blipFill>
        <p:spPr>
          <a:xfrm>
            <a:off x="7160400" y="1045080"/>
            <a:ext cx="4769640" cy="162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3" name="Text Box 1"/>
          <p:cNvSpPr/>
          <p:nvPr/>
        </p:nvSpPr>
        <p:spPr>
          <a:xfrm>
            <a:off x="8351640" y="2966040"/>
            <a:ext cx="2665440" cy="175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</a:t>
            </a:r>
            <a:r>
              <a:rPr lang="en-US" sz="1800" b="0" u="none" strike="noStrike" baseline="30000">
                <a:solidFill>
                  <a:schemeClr val="dk1"/>
                </a:solidFill>
                <a:effectLst/>
                <a:uFillTx/>
                <a:latin typeface="Arial"/>
              </a:rPr>
              <a:t>T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.e = 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</a:t>
            </a:r>
            <a:r>
              <a:rPr lang="en-US" sz="1800" b="0" u="none" strike="noStrike" baseline="30000">
                <a:solidFill>
                  <a:schemeClr val="dk1"/>
                </a:solidFill>
                <a:effectLst/>
                <a:uFillTx/>
                <a:latin typeface="Arial"/>
              </a:rPr>
              <a:t>T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.(b-xa) = 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1x3 3x1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3x1 1x3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Right Bracket 2"/>
          <p:cNvSpPr/>
          <p:nvPr/>
        </p:nvSpPr>
        <p:spPr>
          <a:xfrm>
            <a:off x="8515440" y="4689000"/>
            <a:ext cx="75960" cy="811080"/>
          </a:xfrm>
          <a:prstGeom prst="rightBracket">
            <a:avLst>
              <a:gd name="adj" fmla="val 8333"/>
            </a:avLst>
          </a:prstGeom>
          <a:noFill/>
          <a:ln w="3810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5" name="Left Bracket 5"/>
          <p:cNvSpPr/>
          <p:nvPr/>
        </p:nvSpPr>
        <p:spPr>
          <a:xfrm>
            <a:off x="8110800" y="4687560"/>
            <a:ext cx="75960" cy="813240"/>
          </a:xfrm>
          <a:prstGeom prst="leftBracket">
            <a:avLst>
              <a:gd name="adj" fmla="val 8333"/>
            </a:avLst>
          </a:prstGeom>
          <a:noFill/>
          <a:ln w="3175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76" name="Table 6"/>
          <p:cNvGraphicFramePr/>
          <p:nvPr/>
        </p:nvGraphicFramePr>
        <p:xfrm>
          <a:off x="8178840" y="4556880"/>
          <a:ext cx="320400" cy="1098360"/>
        </p:xfrm>
        <a:graphic>
          <a:graphicData uri="http://schemas.openxmlformats.org/drawingml/2006/table">
            <a:tbl>
              <a:tblPr/>
              <a:tblGrid>
                <a:gridCol w="32040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77" name="Text Box 18"/>
          <p:cNvSpPr/>
          <p:nvPr/>
        </p:nvSpPr>
        <p:spPr>
          <a:xfrm>
            <a:off x="8555400" y="4899600"/>
            <a:ext cx="19242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  +            c =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Right Bracket 20"/>
          <p:cNvSpPr/>
          <p:nvPr/>
        </p:nvSpPr>
        <p:spPr>
          <a:xfrm>
            <a:off x="9637920" y="4688280"/>
            <a:ext cx="92520" cy="811800"/>
          </a:xfrm>
          <a:prstGeom prst="rightBracket">
            <a:avLst>
              <a:gd name="adj" fmla="val 8333"/>
            </a:avLst>
          </a:prstGeom>
          <a:noFill/>
          <a:ln w="3810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9" name="Left Bracket 21"/>
          <p:cNvSpPr/>
          <p:nvPr/>
        </p:nvSpPr>
        <p:spPr>
          <a:xfrm>
            <a:off x="9233640" y="4687560"/>
            <a:ext cx="92520" cy="813240"/>
          </a:xfrm>
          <a:prstGeom prst="leftBracket">
            <a:avLst>
              <a:gd name="adj" fmla="val 8333"/>
            </a:avLst>
          </a:prstGeom>
          <a:noFill/>
          <a:ln w="3175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80" name="Table 22"/>
          <p:cNvGraphicFramePr/>
          <p:nvPr/>
        </p:nvGraphicFramePr>
        <p:xfrm>
          <a:off x="9325440" y="4536360"/>
          <a:ext cx="312120" cy="1098360"/>
        </p:xfrm>
        <a:graphic>
          <a:graphicData uri="http://schemas.openxmlformats.org/drawingml/2006/table">
            <a:tbl>
              <a:tblPr/>
              <a:tblGrid>
                <a:gridCol w="31212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81" name="Table 23"/>
          <p:cNvGraphicFramePr/>
          <p:nvPr/>
        </p:nvGraphicFramePr>
        <p:xfrm>
          <a:off x="10132560" y="4566960"/>
          <a:ext cx="725400" cy="1098360"/>
        </p:xfrm>
        <a:graphic>
          <a:graphicData uri="http://schemas.openxmlformats.org/drawingml/2006/table">
            <a:tbl>
              <a:tblPr/>
              <a:tblGrid>
                <a:gridCol w="72576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82" name="Left Bracket 26"/>
          <p:cNvSpPr/>
          <p:nvPr/>
        </p:nvSpPr>
        <p:spPr>
          <a:xfrm>
            <a:off x="10249560" y="4687560"/>
            <a:ext cx="76320" cy="870840"/>
          </a:xfrm>
          <a:prstGeom prst="leftBracket">
            <a:avLst>
              <a:gd name="adj" fmla="val 8333"/>
            </a:avLst>
          </a:prstGeom>
          <a:noFill/>
          <a:ln w="3175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3" name="Right Bracket 32"/>
          <p:cNvSpPr/>
          <p:nvPr/>
        </p:nvSpPr>
        <p:spPr>
          <a:xfrm>
            <a:off x="10608480" y="4688280"/>
            <a:ext cx="75960" cy="869760"/>
          </a:xfrm>
          <a:prstGeom prst="rightBracket">
            <a:avLst>
              <a:gd name="adj" fmla="val 8333"/>
            </a:avLst>
          </a:prstGeom>
          <a:noFill/>
          <a:ln w="3810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Box 24"/>
          <p:cNvSpPr/>
          <p:nvPr/>
        </p:nvSpPr>
        <p:spPr>
          <a:xfrm>
            <a:off x="7998480" y="5664240"/>
            <a:ext cx="2974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a1                  a2               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Content Placeholder 2"/>
          <p:cNvPicPr/>
          <p:nvPr/>
        </p:nvPicPr>
        <p:blipFill>
          <a:blip r:embed="rId1"/>
          <a:stretch/>
        </p:blipFill>
        <p:spPr>
          <a:xfrm>
            <a:off x="249480" y="578520"/>
            <a:ext cx="7399800" cy="570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6" name="Content Placeholder 3"/>
          <p:cNvPicPr/>
          <p:nvPr/>
        </p:nvPicPr>
        <p:blipFill>
          <a:blip r:embed="rId2"/>
          <a:stretch/>
        </p:blipFill>
        <p:spPr>
          <a:xfrm>
            <a:off x="8109720" y="1030680"/>
            <a:ext cx="3671280" cy="2201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7" name="Picture 4"/>
          <p:cNvPicPr/>
          <p:nvPr/>
        </p:nvPicPr>
        <p:blipFill>
          <a:blip r:embed="rId3"/>
          <a:stretch/>
        </p:blipFill>
        <p:spPr>
          <a:xfrm>
            <a:off x="8171280" y="3721680"/>
            <a:ext cx="3547440" cy="20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8" name="Text Box 1"/>
          <p:cNvSpPr/>
          <p:nvPr/>
        </p:nvSpPr>
        <p:spPr>
          <a:xfrm>
            <a:off x="7148160" y="267480"/>
            <a:ext cx="277704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Ax=b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</a:t>
            </a:r>
            <a:r>
              <a:rPr lang="en-US" sz="1800" b="0" u="none" strike="noStrike" baseline="30000">
                <a:solidFill>
                  <a:schemeClr val="dk1"/>
                </a:solidFill>
                <a:effectLst/>
                <a:uFillTx/>
                <a:latin typeface="Arial"/>
              </a:rPr>
              <a:t>T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Ax=A</a:t>
            </a:r>
            <a:r>
              <a:rPr lang="en-US" sz="1800" b="0" u="none" strike="noStrike" baseline="30000">
                <a:solidFill>
                  <a:schemeClr val="dk1"/>
                </a:solidFill>
                <a:effectLst/>
                <a:uFillTx/>
                <a:latin typeface="Arial"/>
              </a:rPr>
              <a:t>T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639360" y="176040"/>
            <a:ext cx="10515240" cy="55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Exercise: Cannot </a:t>
            </a:r>
            <a:r>
              <a:rPr lang="vi-VN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Fitting a line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going through</a:t>
            </a:r>
            <a:r>
              <a:rPr lang="vi-VN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three points</a:t>
            </a:r>
            <a:endParaRPr lang="en-US" sz="2400" b="1" u="none" strike="noStrike">
              <a:solidFill>
                <a:schemeClr val="dk1"/>
              </a:solidFill>
              <a:effectLst/>
              <a:uFillTx/>
              <a:latin typeface="Arial Black"/>
            </a:endParaRPr>
          </a:p>
        </p:txBody>
      </p:sp>
      <p:pic>
        <p:nvPicPr>
          <p:cNvPr id="290" name="Picture 4"/>
          <p:cNvPicPr/>
          <p:nvPr/>
        </p:nvPicPr>
        <p:blipFill>
          <a:blip r:embed="rId1"/>
          <a:stretch/>
        </p:blipFill>
        <p:spPr>
          <a:xfrm>
            <a:off x="7995240" y="3237120"/>
            <a:ext cx="4082040" cy="23835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91" name="Group 19"/>
          <p:cNvGrpSpPr/>
          <p:nvPr/>
        </p:nvGrpSpPr>
        <p:grpSpPr>
          <a:xfrm>
            <a:off x="8627760" y="1062360"/>
            <a:ext cx="1956600" cy="1460160"/>
            <a:chOff x="8627760" y="1062360"/>
            <a:chExt cx="1956600" cy="1460160"/>
          </a:xfrm>
        </p:grpSpPr>
        <p:sp>
          <p:nvSpPr>
            <p:cNvPr id="292" name="Text Box 7"/>
            <p:cNvSpPr/>
            <p:nvPr/>
          </p:nvSpPr>
          <p:spPr>
            <a:xfrm>
              <a:off x="8677440" y="1062360"/>
              <a:ext cx="1885680" cy="832680"/>
            </a:xfrm>
            <a:prstGeom prst="rect">
              <a:avLst/>
            </a:prstGeom>
            <a:blipFill rotWithShape="0">
              <a:blip r:embed="rId2"/>
              <a:srcRect/>
              <a:tile tx="0" ty="0" sx="100000" sy="100000" algn="tl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rgbClr val="FFFFFF">
                      <a:alpha val="1000"/>
                    </a:srgbClr>
                  </a:solidFill>
                  <a:effectLst/>
                  <a:uFillTx/>
                  <a:latin typeface="Arial"/>
                </a:rPr>
                <a:t> 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3" name="Left Bracket 8"/>
            <p:cNvSpPr/>
            <p:nvPr/>
          </p:nvSpPr>
          <p:spPr>
            <a:xfrm>
              <a:off x="8627760" y="1121400"/>
              <a:ext cx="132840" cy="776880"/>
            </a:xfrm>
            <a:prstGeom prst="leftBracket">
              <a:avLst>
                <a:gd name="adj" fmla="val 8333"/>
              </a:avLst>
            </a:prstGeom>
            <a:noFill/>
            <a:ln w="28575">
              <a:solidFill>
                <a:srgbClr val="5B9BD5">
                  <a:shade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4" name="Left Bracket 9"/>
            <p:cNvSpPr/>
            <p:nvPr/>
          </p:nvSpPr>
          <p:spPr>
            <a:xfrm>
              <a:off x="10168200" y="1123920"/>
              <a:ext cx="132840" cy="776880"/>
            </a:xfrm>
            <a:prstGeom prst="leftBracket">
              <a:avLst>
                <a:gd name="adj" fmla="val 8333"/>
              </a:avLst>
            </a:prstGeom>
            <a:noFill/>
            <a:ln w="28575">
              <a:solidFill>
                <a:srgbClr val="5B9BD5">
                  <a:shade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5" name="Left Bracket 10"/>
            <p:cNvSpPr/>
            <p:nvPr/>
          </p:nvSpPr>
          <p:spPr>
            <a:xfrm rot="10800000">
              <a:off x="9243000" y="1116720"/>
              <a:ext cx="132840" cy="776880"/>
            </a:xfrm>
            <a:prstGeom prst="leftBracket">
              <a:avLst>
                <a:gd name="adj" fmla="val 0"/>
              </a:avLst>
            </a:prstGeom>
            <a:noFill/>
            <a:ln w="28575">
              <a:solidFill>
                <a:srgbClr val="5B9BD5">
                  <a:shade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6" name="Left Bracket 12"/>
            <p:cNvSpPr/>
            <p:nvPr/>
          </p:nvSpPr>
          <p:spPr>
            <a:xfrm rot="10800000">
              <a:off x="10451520" y="1114200"/>
              <a:ext cx="132840" cy="776880"/>
            </a:xfrm>
            <a:prstGeom prst="leftBracket">
              <a:avLst>
                <a:gd name="adj" fmla="val 0"/>
              </a:avLst>
            </a:prstGeom>
            <a:noFill/>
            <a:ln w="28575">
              <a:solidFill>
                <a:srgbClr val="5B9BD5">
                  <a:shade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7" name="Left Bracket 13"/>
            <p:cNvSpPr/>
            <p:nvPr/>
          </p:nvSpPr>
          <p:spPr>
            <a:xfrm>
              <a:off x="9518040" y="1226880"/>
              <a:ext cx="79560" cy="586440"/>
            </a:xfrm>
            <a:prstGeom prst="leftBracket">
              <a:avLst>
                <a:gd name="adj" fmla="val 8333"/>
              </a:avLst>
            </a:prstGeom>
            <a:noFill/>
            <a:ln w="28575">
              <a:solidFill>
                <a:srgbClr val="5B9BD5">
                  <a:shade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8" name="Left Bracket 14"/>
            <p:cNvSpPr/>
            <p:nvPr/>
          </p:nvSpPr>
          <p:spPr>
            <a:xfrm rot="10800000">
              <a:off x="9808200" y="1211760"/>
              <a:ext cx="79560" cy="586440"/>
            </a:xfrm>
            <a:prstGeom prst="leftBracket">
              <a:avLst>
                <a:gd name="adj" fmla="val 8333"/>
              </a:avLst>
            </a:prstGeom>
            <a:noFill/>
            <a:ln w="28575">
              <a:solidFill>
                <a:srgbClr val="5B9BD5">
                  <a:shade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9" name="Text Box 11"/>
            <p:cNvSpPr/>
            <p:nvPr/>
          </p:nvSpPr>
          <p:spPr>
            <a:xfrm>
              <a:off x="9147240" y="2154600"/>
              <a:ext cx="1017000" cy="367920"/>
            </a:xfrm>
            <a:prstGeom prst="rect">
              <a:avLst/>
            </a:prstGeom>
            <a:blipFill rotWithShape="0">
              <a:blip r:embed="rId3"/>
              <a:srcRect/>
              <a:tile tx="0" ty="0" sx="100000" sy="100000" algn="tl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rgbClr val="FFFFFF">
                      <a:alpha val="1000"/>
                    </a:srgbClr>
                  </a:solidFill>
                  <a:effectLst/>
                  <a:uFillTx/>
                  <a:latin typeface="Arial"/>
                </a:rPr>
                <a:t> 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300" name="Straight Arrow Connector 15"/>
            <p:cNvCxnSpPr/>
            <p:nvPr/>
          </p:nvCxnSpPr>
          <p:spPr>
            <a:xfrm flipH="1" flipV="1">
              <a:off x="9146880" y="1928160"/>
              <a:ext cx="188280" cy="286200"/>
            </a:xfrm>
            <a:prstGeom prst="straightConnector1">
              <a:avLst/>
            </a:prstGeom>
            <a:ln w="31750">
              <a:solidFill>
                <a:srgbClr val="FF3300"/>
              </a:solidFill>
              <a:tailEnd len="med" type="arrow" w="med"/>
            </a:ln>
          </p:spPr>
        </p:cxnSp>
        <p:cxnSp>
          <p:nvCxnSpPr>
            <p:cNvPr id="301" name="Straight Arrow Connector 16"/>
            <p:cNvCxnSpPr/>
            <p:nvPr/>
          </p:nvCxnSpPr>
          <p:spPr>
            <a:xfrm flipV="1">
              <a:off x="9570600" y="1895400"/>
              <a:ext cx="79200" cy="372240"/>
            </a:xfrm>
            <a:prstGeom prst="straightConnector1">
              <a:avLst/>
            </a:prstGeom>
            <a:ln w="31750">
              <a:solidFill>
                <a:srgbClr val="FF3300"/>
              </a:solidFill>
              <a:tailEnd len="med" type="arrow" w="med"/>
            </a:ln>
          </p:spPr>
        </p:cxnSp>
        <p:cxnSp>
          <p:nvCxnSpPr>
            <p:cNvPr id="302" name="Straight Arrow Connector 17"/>
            <p:cNvCxnSpPr/>
            <p:nvPr/>
          </p:nvCxnSpPr>
          <p:spPr>
            <a:xfrm flipV="1">
              <a:off x="10135800" y="1905480"/>
              <a:ext cx="200880" cy="315360"/>
            </a:xfrm>
            <a:prstGeom prst="straightConnector1">
              <a:avLst/>
            </a:prstGeom>
            <a:ln w="31750">
              <a:solidFill>
                <a:srgbClr val="FF3300"/>
              </a:solidFill>
              <a:tailEnd len="med" type="arrow" w="med"/>
            </a:ln>
          </p:spPr>
        </p:cxnSp>
      </p:grpSp>
      <p:sp>
        <p:nvSpPr>
          <p:cNvPr id="303" name="Right Bracket 2"/>
          <p:cNvSpPr/>
          <p:nvPr/>
        </p:nvSpPr>
        <p:spPr>
          <a:xfrm>
            <a:off x="2793240" y="950760"/>
            <a:ext cx="75960" cy="811080"/>
          </a:xfrm>
          <a:prstGeom prst="rightBracket">
            <a:avLst>
              <a:gd name="adj" fmla="val 8333"/>
            </a:avLst>
          </a:prstGeom>
          <a:noFill/>
          <a:ln w="3810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4" name="Left Bracket 5"/>
          <p:cNvSpPr/>
          <p:nvPr/>
        </p:nvSpPr>
        <p:spPr>
          <a:xfrm>
            <a:off x="2388960" y="949320"/>
            <a:ext cx="75960" cy="813240"/>
          </a:xfrm>
          <a:prstGeom prst="leftBracket">
            <a:avLst>
              <a:gd name="adj" fmla="val 8333"/>
            </a:avLst>
          </a:prstGeom>
          <a:noFill/>
          <a:ln w="3175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05" name="Table 6"/>
          <p:cNvGraphicFramePr/>
          <p:nvPr/>
        </p:nvGraphicFramePr>
        <p:xfrm>
          <a:off x="2456640" y="818640"/>
          <a:ext cx="320400" cy="1098360"/>
        </p:xfrm>
        <a:graphic>
          <a:graphicData uri="http://schemas.openxmlformats.org/drawingml/2006/table">
            <a:tbl>
              <a:tblPr/>
              <a:tblGrid>
                <a:gridCol w="32040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06" name="Text Box 18"/>
          <p:cNvSpPr/>
          <p:nvPr/>
        </p:nvSpPr>
        <p:spPr>
          <a:xfrm>
            <a:off x="2869560" y="1161360"/>
            <a:ext cx="1734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  +           c =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Right Bracket 20"/>
          <p:cNvSpPr/>
          <p:nvPr/>
        </p:nvSpPr>
        <p:spPr>
          <a:xfrm>
            <a:off x="3916080" y="950040"/>
            <a:ext cx="92520" cy="811800"/>
          </a:xfrm>
          <a:prstGeom prst="rightBracket">
            <a:avLst>
              <a:gd name="adj" fmla="val 8333"/>
            </a:avLst>
          </a:prstGeom>
          <a:noFill/>
          <a:ln w="3810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8" name="Left Bracket 21"/>
          <p:cNvSpPr/>
          <p:nvPr/>
        </p:nvSpPr>
        <p:spPr>
          <a:xfrm>
            <a:off x="3511440" y="949320"/>
            <a:ext cx="92520" cy="813240"/>
          </a:xfrm>
          <a:prstGeom prst="leftBracket">
            <a:avLst>
              <a:gd name="adj" fmla="val 8333"/>
            </a:avLst>
          </a:prstGeom>
          <a:noFill/>
          <a:ln w="3175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09" name="Table 22"/>
          <p:cNvGraphicFramePr/>
          <p:nvPr/>
        </p:nvGraphicFramePr>
        <p:xfrm>
          <a:off x="3603600" y="798120"/>
          <a:ext cx="312120" cy="1098360"/>
        </p:xfrm>
        <a:graphic>
          <a:graphicData uri="http://schemas.openxmlformats.org/drawingml/2006/table">
            <a:tbl>
              <a:tblPr/>
              <a:tblGrid>
                <a:gridCol w="31212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10" name="Table 23"/>
          <p:cNvGraphicFramePr/>
          <p:nvPr/>
        </p:nvGraphicFramePr>
        <p:xfrm>
          <a:off x="4410720" y="828720"/>
          <a:ext cx="725400" cy="1098360"/>
        </p:xfrm>
        <a:graphic>
          <a:graphicData uri="http://schemas.openxmlformats.org/drawingml/2006/table">
            <a:tbl>
              <a:tblPr/>
              <a:tblGrid>
                <a:gridCol w="72576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11" name="Left Bracket 26"/>
          <p:cNvSpPr/>
          <p:nvPr/>
        </p:nvSpPr>
        <p:spPr>
          <a:xfrm>
            <a:off x="4527720" y="949320"/>
            <a:ext cx="76320" cy="870840"/>
          </a:xfrm>
          <a:prstGeom prst="leftBracket">
            <a:avLst>
              <a:gd name="adj" fmla="val 8333"/>
            </a:avLst>
          </a:prstGeom>
          <a:noFill/>
          <a:ln w="3175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2" name="Right Bracket 32"/>
          <p:cNvSpPr/>
          <p:nvPr/>
        </p:nvSpPr>
        <p:spPr>
          <a:xfrm>
            <a:off x="4886280" y="950040"/>
            <a:ext cx="75960" cy="869760"/>
          </a:xfrm>
          <a:prstGeom prst="rightBracket">
            <a:avLst>
              <a:gd name="adj" fmla="val 8333"/>
            </a:avLst>
          </a:prstGeom>
          <a:noFill/>
          <a:ln w="3810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Box 24"/>
          <p:cNvSpPr/>
          <p:nvPr/>
        </p:nvSpPr>
        <p:spPr>
          <a:xfrm>
            <a:off x="2276640" y="1926000"/>
            <a:ext cx="27709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PlaceHolder 2"/>
          <p:cNvSpPr>
            <a:spLocks noGrp="1"/>
          </p:cNvSpPr>
          <p:nvPr>
            <p:ph/>
          </p:nvPr>
        </p:nvSpPr>
        <p:spPr>
          <a:xfrm>
            <a:off x="647640" y="2506320"/>
            <a:ext cx="10515240" cy="326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Compute A</a:t>
            </a:r>
            <a:r>
              <a:rPr lang="en-US" sz="2000" b="0" u="none" strike="noStrike" baseline="30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T</a:t>
            </a: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A, A</a:t>
            </a:r>
            <a:r>
              <a:rPr lang="en-US" sz="2000" b="0" u="none" strike="noStrike" baseline="30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T</a:t>
            </a:r>
            <a:r>
              <a:rPr lang="en-US" sz="20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b </a:t>
            </a: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to</a:t>
            </a:r>
            <a:r>
              <a:rPr lang="en-US" sz="20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find</a:t>
            </a:r>
            <a:r>
              <a:rPr lang="en-US" sz="20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 x </a:t>
            </a: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in the normal equaltion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pic>
        <p:nvPicPr>
          <p:cNvPr id="315" name="Picture 27"/>
          <p:cNvPicPr/>
          <p:nvPr/>
        </p:nvPicPr>
        <p:blipFill>
          <a:blip r:embed="rId4"/>
          <a:stretch/>
        </p:blipFill>
        <p:spPr>
          <a:xfrm>
            <a:off x="1572120" y="2981160"/>
            <a:ext cx="3123720" cy="894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6" name="Picture 3"/>
          <p:cNvPicPr/>
          <p:nvPr/>
        </p:nvPicPr>
        <p:blipFill>
          <a:blip r:embed="rId5"/>
          <a:srcRect l="0" t="0" r="19834" b="0"/>
          <a:stretch/>
        </p:blipFill>
        <p:spPr>
          <a:xfrm>
            <a:off x="423000" y="4201200"/>
            <a:ext cx="2536560" cy="2407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7" name="Picture 29"/>
          <p:cNvPicPr/>
          <p:nvPr/>
        </p:nvPicPr>
        <p:blipFill>
          <a:blip r:embed="rId6"/>
          <a:stretch/>
        </p:blipFill>
        <p:spPr>
          <a:xfrm>
            <a:off x="3443040" y="5412600"/>
            <a:ext cx="2244960" cy="994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8" name="Picture 30"/>
          <p:cNvPicPr/>
          <p:nvPr/>
        </p:nvPicPr>
        <p:blipFill>
          <a:blip r:embed="rId7"/>
          <a:stretch/>
        </p:blipFill>
        <p:spPr>
          <a:xfrm>
            <a:off x="3446640" y="4354200"/>
            <a:ext cx="1991520" cy="78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9" name="Text Box 31"/>
          <p:cNvSpPr/>
          <p:nvPr/>
        </p:nvSpPr>
        <p:spPr>
          <a:xfrm>
            <a:off x="1653480" y="4805640"/>
            <a:ext cx="2539800" cy="95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&gt; 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[1] 0.3571429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&gt; c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[1] 0.7142857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Picture 27"/>
          <p:cNvPicPr/>
          <p:nvPr/>
        </p:nvPicPr>
        <p:blipFill>
          <a:blip r:embed="rId1"/>
          <a:stretch/>
        </p:blipFill>
        <p:spPr>
          <a:xfrm>
            <a:off x="1611000" y="2779920"/>
            <a:ext cx="3123720" cy="89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639360" y="176040"/>
            <a:ext cx="10515240" cy="55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Exercise: Cannot </a:t>
            </a:r>
            <a:r>
              <a:rPr lang="vi-VN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Fitting a line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going through</a:t>
            </a:r>
            <a:r>
              <a:rPr lang="vi-VN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three points</a:t>
            </a:r>
            <a:endParaRPr lang="en-US" sz="2400" b="1" u="none" strike="noStrike">
              <a:solidFill>
                <a:schemeClr val="dk1"/>
              </a:solidFill>
              <a:effectLst/>
              <a:uFillTx/>
              <a:latin typeface="Arial Black"/>
            </a:endParaRPr>
          </a:p>
        </p:txBody>
      </p:sp>
      <p:pic>
        <p:nvPicPr>
          <p:cNvPr id="322" name="Picture 4"/>
          <p:cNvPicPr/>
          <p:nvPr/>
        </p:nvPicPr>
        <p:blipFill>
          <a:blip r:embed="rId2"/>
          <a:stretch/>
        </p:blipFill>
        <p:spPr>
          <a:xfrm>
            <a:off x="8604720" y="2070000"/>
            <a:ext cx="3113640" cy="181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23" name="Group 19"/>
          <p:cNvGrpSpPr/>
          <p:nvPr/>
        </p:nvGrpSpPr>
        <p:grpSpPr>
          <a:xfrm>
            <a:off x="9951480" y="408600"/>
            <a:ext cx="1956600" cy="1460160"/>
            <a:chOff x="9951480" y="408600"/>
            <a:chExt cx="1956600" cy="1460160"/>
          </a:xfrm>
        </p:grpSpPr>
        <p:sp>
          <p:nvSpPr>
            <p:cNvPr id="324" name="Text Box 7"/>
            <p:cNvSpPr/>
            <p:nvPr/>
          </p:nvSpPr>
          <p:spPr>
            <a:xfrm>
              <a:off x="10001160" y="408600"/>
              <a:ext cx="1885680" cy="832680"/>
            </a:xfrm>
            <a:prstGeom prst="rect">
              <a:avLst/>
            </a:prstGeom>
            <a:blipFill rotWithShape="0">
              <a:blip r:embed="rId3"/>
              <a:srcRect/>
              <a:tile tx="0" ty="0" sx="100000" sy="100000" algn="tl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rgbClr val="FFFFFF">
                      <a:alpha val="1000"/>
                    </a:srgbClr>
                  </a:solidFill>
                  <a:effectLst/>
                  <a:uFillTx/>
                  <a:latin typeface="Arial"/>
                </a:rPr>
                <a:t> 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5" name="Left Bracket 8"/>
            <p:cNvSpPr/>
            <p:nvPr/>
          </p:nvSpPr>
          <p:spPr>
            <a:xfrm>
              <a:off x="9951480" y="467640"/>
              <a:ext cx="132840" cy="776880"/>
            </a:xfrm>
            <a:prstGeom prst="leftBracket">
              <a:avLst>
                <a:gd name="adj" fmla="val 8333"/>
              </a:avLst>
            </a:prstGeom>
            <a:noFill/>
            <a:ln w="28575">
              <a:solidFill>
                <a:srgbClr val="5B9BD5">
                  <a:shade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6" name="Left Bracket 9"/>
            <p:cNvSpPr/>
            <p:nvPr/>
          </p:nvSpPr>
          <p:spPr>
            <a:xfrm>
              <a:off x="11492280" y="470160"/>
              <a:ext cx="132840" cy="776880"/>
            </a:xfrm>
            <a:prstGeom prst="leftBracket">
              <a:avLst>
                <a:gd name="adj" fmla="val 8333"/>
              </a:avLst>
            </a:prstGeom>
            <a:noFill/>
            <a:ln w="28575">
              <a:solidFill>
                <a:srgbClr val="5B9BD5">
                  <a:shade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7" name="Left Bracket 10"/>
            <p:cNvSpPr/>
            <p:nvPr/>
          </p:nvSpPr>
          <p:spPr>
            <a:xfrm rot="10800000">
              <a:off x="10566720" y="462960"/>
              <a:ext cx="132840" cy="776880"/>
            </a:xfrm>
            <a:prstGeom prst="leftBracket">
              <a:avLst>
                <a:gd name="adj" fmla="val 0"/>
              </a:avLst>
            </a:prstGeom>
            <a:noFill/>
            <a:ln w="28575">
              <a:solidFill>
                <a:srgbClr val="5B9BD5">
                  <a:shade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8" name="Left Bracket 12"/>
            <p:cNvSpPr/>
            <p:nvPr/>
          </p:nvSpPr>
          <p:spPr>
            <a:xfrm rot="10800000">
              <a:off x="11775240" y="460440"/>
              <a:ext cx="132840" cy="776880"/>
            </a:xfrm>
            <a:prstGeom prst="leftBracket">
              <a:avLst>
                <a:gd name="adj" fmla="val 0"/>
              </a:avLst>
            </a:prstGeom>
            <a:noFill/>
            <a:ln w="28575">
              <a:solidFill>
                <a:srgbClr val="5B9BD5">
                  <a:shade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9" name="Left Bracket 13"/>
            <p:cNvSpPr/>
            <p:nvPr/>
          </p:nvSpPr>
          <p:spPr>
            <a:xfrm>
              <a:off x="10841760" y="573120"/>
              <a:ext cx="79560" cy="586440"/>
            </a:xfrm>
            <a:prstGeom prst="leftBracket">
              <a:avLst>
                <a:gd name="adj" fmla="val 8333"/>
              </a:avLst>
            </a:prstGeom>
            <a:noFill/>
            <a:ln w="28575">
              <a:solidFill>
                <a:srgbClr val="5B9BD5">
                  <a:shade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0" name="Left Bracket 14"/>
            <p:cNvSpPr/>
            <p:nvPr/>
          </p:nvSpPr>
          <p:spPr>
            <a:xfrm rot="10800000">
              <a:off x="11131920" y="558000"/>
              <a:ext cx="79560" cy="586440"/>
            </a:xfrm>
            <a:prstGeom prst="leftBracket">
              <a:avLst>
                <a:gd name="adj" fmla="val 8333"/>
              </a:avLst>
            </a:prstGeom>
            <a:noFill/>
            <a:ln w="28575">
              <a:solidFill>
                <a:srgbClr val="5B9BD5">
                  <a:shade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1" name="Text Box 11"/>
            <p:cNvSpPr/>
            <p:nvPr/>
          </p:nvSpPr>
          <p:spPr>
            <a:xfrm>
              <a:off x="10470960" y="1500840"/>
              <a:ext cx="1017000" cy="367920"/>
            </a:xfrm>
            <a:prstGeom prst="rect">
              <a:avLst/>
            </a:prstGeom>
            <a:blipFill rotWithShape="0">
              <a:blip r:embed="rId4"/>
              <a:srcRect/>
              <a:tile tx="0" ty="0" sx="100000" sy="100000" algn="tl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rgbClr val="FFFFFF">
                      <a:alpha val="1000"/>
                    </a:srgbClr>
                  </a:solidFill>
                  <a:effectLst/>
                  <a:uFillTx/>
                  <a:latin typeface="Arial"/>
                </a:rPr>
                <a:t> 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332" name="Straight Arrow Connector 15"/>
            <p:cNvCxnSpPr/>
            <p:nvPr/>
          </p:nvCxnSpPr>
          <p:spPr>
            <a:xfrm flipH="1" flipV="1">
              <a:off x="10470960" y="1274400"/>
              <a:ext cx="188280" cy="286200"/>
            </a:xfrm>
            <a:prstGeom prst="straightConnector1">
              <a:avLst/>
            </a:prstGeom>
            <a:ln w="31750">
              <a:solidFill>
                <a:srgbClr val="FF3300"/>
              </a:solidFill>
              <a:tailEnd len="med" type="arrow" w="med"/>
            </a:ln>
          </p:spPr>
        </p:cxnSp>
        <p:cxnSp>
          <p:nvCxnSpPr>
            <p:cNvPr id="333" name="Straight Arrow Connector 16"/>
            <p:cNvCxnSpPr/>
            <p:nvPr/>
          </p:nvCxnSpPr>
          <p:spPr>
            <a:xfrm flipV="1">
              <a:off x="10894320" y="1241640"/>
              <a:ext cx="79200" cy="372240"/>
            </a:xfrm>
            <a:prstGeom prst="straightConnector1">
              <a:avLst/>
            </a:prstGeom>
            <a:ln w="31750">
              <a:solidFill>
                <a:srgbClr val="FF3300"/>
              </a:solidFill>
              <a:tailEnd len="med" type="arrow" w="med"/>
            </a:ln>
          </p:spPr>
        </p:cxnSp>
        <p:cxnSp>
          <p:nvCxnSpPr>
            <p:cNvPr id="334" name="Straight Arrow Connector 17"/>
            <p:cNvCxnSpPr/>
            <p:nvPr/>
          </p:nvCxnSpPr>
          <p:spPr>
            <a:xfrm flipV="1">
              <a:off x="11459520" y="1251720"/>
              <a:ext cx="201240" cy="315360"/>
            </a:xfrm>
            <a:prstGeom prst="straightConnector1">
              <a:avLst/>
            </a:prstGeom>
            <a:ln w="31750">
              <a:solidFill>
                <a:srgbClr val="FF3300"/>
              </a:solidFill>
              <a:tailEnd len="med" type="arrow" w="med"/>
            </a:ln>
          </p:spPr>
        </p:cxnSp>
      </p:grpSp>
      <p:sp>
        <p:nvSpPr>
          <p:cNvPr id="335" name="Right Bracket 2"/>
          <p:cNvSpPr/>
          <p:nvPr/>
        </p:nvSpPr>
        <p:spPr>
          <a:xfrm>
            <a:off x="2793240" y="950760"/>
            <a:ext cx="75960" cy="811080"/>
          </a:xfrm>
          <a:prstGeom prst="rightBracket">
            <a:avLst>
              <a:gd name="adj" fmla="val 8333"/>
            </a:avLst>
          </a:prstGeom>
          <a:noFill/>
          <a:ln w="3810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6" name="Left Bracket 5"/>
          <p:cNvSpPr/>
          <p:nvPr/>
        </p:nvSpPr>
        <p:spPr>
          <a:xfrm>
            <a:off x="2388960" y="949320"/>
            <a:ext cx="75960" cy="813240"/>
          </a:xfrm>
          <a:prstGeom prst="leftBracket">
            <a:avLst>
              <a:gd name="adj" fmla="val 8333"/>
            </a:avLst>
          </a:prstGeom>
          <a:noFill/>
          <a:ln w="3175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37" name="Table 6"/>
          <p:cNvGraphicFramePr/>
          <p:nvPr/>
        </p:nvGraphicFramePr>
        <p:xfrm>
          <a:off x="2456640" y="818640"/>
          <a:ext cx="320400" cy="1098360"/>
        </p:xfrm>
        <a:graphic>
          <a:graphicData uri="http://schemas.openxmlformats.org/drawingml/2006/table">
            <a:tbl>
              <a:tblPr/>
              <a:tblGrid>
                <a:gridCol w="32040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38" name="Text Box 18"/>
          <p:cNvSpPr/>
          <p:nvPr/>
        </p:nvSpPr>
        <p:spPr>
          <a:xfrm>
            <a:off x="2869560" y="1161360"/>
            <a:ext cx="19310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  +            c =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Right Bracket 20"/>
          <p:cNvSpPr/>
          <p:nvPr/>
        </p:nvSpPr>
        <p:spPr>
          <a:xfrm>
            <a:off x="3916080" y="950040"/>
            <a:ext cx="92520" cy="811800"/>
          </a:xfrm>
          <a:prstGeom prst="rightBracket">
            <a:avLst>
              <a:gd name="adj" fmla="val 8333"/>
            </a:avLst>
          </a:prstGeom>
          <a:noFill/>
          <a:ln w="3810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0" name="Left Bracket 21"/>
          <p:cNvSpPr/>
          <p:nvPr/>
        </p:nvSpPr>
        <p:spPr>
          <a:xfrm>
            <a:off x="3511440" y="949320"/>
            <a:ext cx="92520" cy="813240"/>
          </a:xfrm>
          <a:prstGeom prst="leftBracket">
            <a:avLst>
              <a:gd name="adj" fmla="val 8333"/>
            </a:avLst>
          </a:prstGeom>
          <a:noFill/>
          <a:ln w="3175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41" name="Table 22"/>
          <p:cNvGraphicFramePr/>
          <p:nvPr/>
        </p:nvGraphicFramePr>
        <p:xfrm>
          <a:off x="3603600" y="798120"/>
          <a:ext cx="312120" cy="1098360"/>
        </p:xfrm>
        <a:graphic>
          <a:graphicData uri="http://schemas.openxmlformats.org/drawingml/2006/table">
            <a:tbl>
              <a:tblPr/>
              <a:tblGrid>
                <a:gridCol w="31212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42" name="Table 23"/>
          <p:cNvGraphicFramePr/>
          <p:nvPr/>
        </p:nvGraphicFramePr>
        <p:xfrm>
          <a:off x="4410720" y="828720"/>
          <a:ext cx="725400" cy="1098360"/>
        </p:xfrm>
        <a:graphic>
          <a:graphicData uri="http://schemas.openxmlformats.org/drawingml/2006/table">
            <a:tbl>
              <a:tblPr/>
              <a:tblGrid>
                <a:gridCol w="72576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43" name="Left Bracket 26"/>
          <p:cNvSpPr/>
          <p:nvPr/>
        </p:nvSpPr>
        <p:spPr>
          <a:xfrm>
            <a:off x="4527720" y="949320"/>
            <a:ext cx="76320" cy="870840"/>
          </a:xfrm>
          <a:prstGeom prst="leftBracket">
            <a:avLst>
              <a:gd name="adj" fmla="val 8333"/>
            </a:avLst>
          </a:prstGeom>
          <a:noFill/>
          <a:ln w="3175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4" name="Right Bracket 32"/>
          <p:cNvSpPr/>
          <p:nvPr/>
        </p:nvSpPr>
        <p:spPr>
          <a:xfrm>
            <a:off x="4886280" y="950040"/>
            <a:ext cx="75960" cy="869760"/>
          </a:xfrm>
          <a:prstGeom prst="rightBracket">
            <a:avLst>
              <a:gd name="adj" fmla="val 8333"/>
            </a:avLst>
          </a:prstGeom>
          <a:noFill/>
          <a:ln w="3810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Box 24"/>
          <p:cNvSpPr/>
          <p:nvPr/>
        </p:nvSpPr>
        <p:spPr>
          <a:xfrm>
            <a:off x="2276640" y="1926000"/>
            <a:ext cx="2981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a1                  a2           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2"/>
          <p:cNvSpPr>
            <a:spLocks noGrp="1"/>
          </p:cNvSpPr>
          <p:nvPr>
            <p:ph/>
          </p:nvPr>
        </p:nvSpPr>
        <p:spPr>
          <a:xfrm>
            <a:off x="647640" y="2506320"/>
            <a:ext cx="10515240" cy="326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Compute A</a:t>
            </a:r>
            <a:r>
              <a:rPr lang="en-US" sz="2000" b="0" u="none" strike="noStrike" baseline="30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T</a:t>
            </a: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A, A</a:t>
            </a:r>
            <a:r>
              <a:rPr lang="en-US" sz="2000" b="0" u="none" strike="noStrike" baseline="30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T</a:t>
            </a:r>
            <a:r>
              <a:rPr lang="en-US" sz="20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b </a:t>
            </a: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to</a:t>
            </a:r>
            <a:r>
              <a:rPr lang="en-US" sz="20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find</a:t>
            </a:r>
            <a:r>
              <a:rPr lang="en-US" sz="20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 x </a:t>
            </a: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in the normal equation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pic>
        <p:nvPicPr>
          <p:cNvPr id="347" name="Picture 30"/>
          <p:cNvPicPr/>
          <p:nvPr/>
        </p:nvPicPr>
        <p:blipFill>
          <a:blip r:embed="rId5"/>
          <a:stretch/>
        </p:blipFill>
        <p:spPr>
          <a:xfrm>
            <a:off x="6301800" y="3881160"/>
            <a:ext cx="3518280" cy="2684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8" name="Picture 33"/>
          <p:cNvPicPr/>
          <p:nvPr/>
        </p:nvPicPr>
        <p:blipFill>
          <a:blip r:embed="rId6"/>
          <a:stretch/>
        </p:blipFill>
        <p:spPr>
          <a:xfrm>
            <a:off x="1532880" y="3675240"/>
            <a:ext cx="3279960" cy="301896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49" name="Straight Connector 34"/>
          <p:cNvCxnSpPr/>
          <p:nvPr/>
        </p:nvCxnSpPr>
        <p:spPr>
          <a:xfrm flipV="1">
            <a:off x="6603840" y="4756680"/>
            <a:ext cx="3051000" cy="1039320"/>
          </a:xfrm>
          <a:prstGeom prst="straightConnector1">
            <a:avLst/>
          </a:prstGeom>
          <a:ln>
            <a:solidFill>
              <a:srgbClr val="5B9BD5"/>
            </a:solidFill>
          </a:ln>
        </p:spPr>
      </p:cxnSp>
      <p:cxnSp>
        <p:nvCxnSpPr>
          <p:cNvPr id="350" name="Straight Connector 35"/>
          <p:cNvCxnSpPr/>
          <p:nvPr/>
        </p:nvCxnSpPr>
        <p:spPr>
          <a:xfrm flipV="1">
            <a:off x="6730920" y="4883760"/>
            <a:ext cx="3050640" cy="1038960"/>
          </a:xfrm>
          <a:prstGeom prst="straightConnector1">
            <a:avLst/>
          </a:prstGeom>
          <a:ln>
            <a:solidFill>
              <a:srgbClr val="5B9BD5"/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639360" y="176040"/>
            <a:ext cx="10515240" cy="55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E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x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e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r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c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i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s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e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: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u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s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i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n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g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R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t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o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c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h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e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c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k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t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h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e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r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e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s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u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l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t</a:t>
            </a:r>
            <a:endParaRPr lang="en-US" sz="2400" b="1" u="none" strike="noStrike">
              <a:solidFill>
                <a:schemeClr val="dk1"/>
              </a:solidFill>
              <a:effectLst/>
              <a:uFillTx/>
              <a:latin typeface="Arial Black"/>
            </a:endParaRPr>
          </a:p>
        </p:txBody>
      </p:sp>
      <p:pic>
        <p:nvPicPr>
          <p:cNvPr id="352" name="Picture 4"/>
          <p:cNvPicPr/>
          <p:nvPr/>
        </p:nvPicPr>
        <p:blipFill>
          <a:blip r:embed="rId1"/>
          <a:stretch/>
        </p:blipFill>
        <p:spPr>
          <a:xfrm>
            <a:off x="8133120" y="2893680"/>
            <a:ext cx="4058640" cy="23695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53" name="Group 19"/>
          <p:cNvGrpSpPr/>
          <p:nvPr/>
        </p:nvGrpSpPr>
        <p:grpSpPr>
          <a:xfrm>
            <a:off x="9198720" y="176040"/>
            <a:ext cx="1956240" cy="1459800"/>
            <a:chOff x="9198720" y="176040"/>
            <a:chExt cx="1956240" cy="1459800"/>
          </a:xfrm>
        </p:grpSpPr>
        <p:sp>
          <p:nvSpPr>
            <p:cNvPr id="354" name="Text Box 7"/>
            <p:cNvSpPr/>
            <p:nvPr/>
          </p:nvSpPr>
          <p:spPr>
            <a:xfrm>
              <a:off x="9248040" y="176040"/>
              <a:ext cx="1885680" cy="832680"/>
            </a:xfrm>
            <a:prstGeom prst="rect">
              <a:avLst/>
            </a:prstGeom>
            <a:blipFill rotWithShape="0">
              <a:blip r:embed="rId2"/>
              <a:srcRect/>
              <a:tile tx="0" ty="0" sx="100000" sy="100000" algn="tl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rgbClr val="FFFFFF">
                      <a:alpha val="1000"/>
                    </a:srgbClr>
                  </a:solidFill>
                  <a:effectLst/>
                  <a:uFillTx/>
                  <a:latin typeface="Arial"/>
                </a:rPr>
                <a:t> 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5" name="Left Bracket 8"/>
            <p:cNvSpPr/>
            <p:nvPr/>
          </p:nvSpPr>
          <p:spPr>
            <a:xfrm>
              <a:off x="9198720" y="235080"/>
              <a:ext cx="132840" cy="776880"/>
            </a:xfrm>
            <a:prstGeom prst="leftBracket">
              <a:avLst>
                <a:gd name="adj" fmla="val 8333"/>
              </a:avLst>
            </a:prstGeom>
            <a:noFill/>
            <a:ln w="28575">
              <a:solidFill>
                <a:srgbClr val="5B9BD5">
                  <a:shade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6" name="Left Bracket 9"/>
            <p:cNvSpPr/>
            <p:nvPr/>
          </p:nvSpPr>
          <p:spPr>
            <a:xfrm>
              <a:off x="10739160" y="237600"/>
              <a:ext cx="132840" cy="776880"/>
            </a:xfrm>
            <a:prstGeom prst="leftBracket">
              <a:avLst>
                <a:gd name="adj" fmla="val 8333"/>
              </a:avLst>
            </a:prstGeom>
            <a:noFill/>
            <a:ln w="28575">
              <a:solidFill>
                <a:srgbClr val="5B9BD5">
                  <a:shade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7" name="Left Bracket 10"/>
            <p:cNvSpPr/>
            <p:nvPr/>
          </p:nvSpPr>
          <p:spPr>
            <a:xfrm rot="10800000">
              <a:off x="9813960" y="230400"/>
              <a:ext cx="132840" cy="776880"/>
            </a:xfrm>
            <a:prstGeom prst="leftBracket">
              <a:avLst>
                <a:gd name="adj" fmla="val 0"/>
              </a:avLst>
            </a:prstGeom>
            <a:noFill/>
            <a:ln w="28575">
              <a:solidFill>
                <a:srgbClr val="5B9BD5">
                  <a:shade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8" name="Left Bracket 12"/>
            <p:cNvSpPr/>
            <p:nvPr/>
          </p:nvSpPr>
          <p:spPr>
            <a:xfrm rot="10800000">
              <a:off x="11022120" y="227520"/>
              <a:ext cx="132840" cy="776880"/>
            </a:xfrm>
            <a:prstGeom prst="leftBracket">
              <a:avLst>
                <a:gd name="adj" fmla="val 0"/>
              </a:avLst>
            </a:prstGeom>
            <a:noFill/>
            <a:ln w="28575">
              <a:solidFill>
                <a:srgbClr val="5B9BD5">
                  <a:shade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9" name="Left Bracket 13"/>
            <p:cNvSpPr/>
            <p:nvPr/>
          </p:nvSpPr>
          <p:spPr>
            <a:xfrm>
              <a:off x="10089000" y="340200"/>
              <a:ext cx="79560" cy="586440"/>
            </a:xfrm>
            <a:prstGeom prst="leftBracket">
              <a:avLst>
                <a:gd name="adj" fmla="val 8333"/>
              </a:avLst>
            </a:prstGeom>
            <a:noFill/>
            <a:ln w="28575">
              <a:solidFill>
                <a:srgbClr val="5B9BD5">
                  <a:shade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0" name="Left Bracket 14"/>
            <p:cNvSpPr/>
            <p:nvPr/>
          </p:nvSpPr>
          <p:spPr>
            <a:xfrm rot="10800000">
              <a:off x="10378800" y="325440"/>
              <a:ext cx="79560" cy="586440"/>
            </a:xfrm>
            <a:prstGeom prst="leftBracket">
              <a:avLst>
                <a:gd name="adj" fmla="val 8333"/>
              </a:avLst>
            </a:prstGeom>
            <a:noFill/>
            <a:ln w="28575">
              <a:solidFill>
                <a:srgbClr val="5B9BD5">
                  <a:shade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1" name="Text Box 11"/>
            <p:cNvSpPr/>
            <p:nvPr/>
          </p:nvSpPr>
          <p:spPr>
            <a:xfrm>
              <a:off x="9718200" y="1267920"/>
              <a:ext cx="1017000" cy="367920"/>
            </a:xfrm>
            <a:prstGeom prst="rect">
              <a:avLst/>
            </a:prstGeom>
            <a:blipFill rotWithShape="0">
              <a:blip r:embed="rId3"/>
              <a:srcRect/>
              <a:tile tx="0" ty="0" sx="100000" sy="100000" algn="tl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rgbClr val="FFFFFF">
                      <a:alpha val="1000"/>
                    </a:srgbClr>
                  </a:solidFill>
                  <a:effectLst/>
                  <a:uFillTx/>
                  <a:latin typeface="Arial"/>
                </a:rPr>
                <a:t> 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362" name="Straight Arrow Connector 15"/>
            <p:cNvCxnSpPr/>
            <p:nvPr/>
          </p:nvCxnSpPr>
          <p:spPr>
            <a:xfrm flipH="1" flipV="1">
              <a:off x="9717840" y="1041840"/>
              <a:ext cx="188280" cy="286200"/>
            </a:xfrm>
            <a:prstGeom prst="straightConnector1">
              <a:avLst/>
            </a:prstGeom>
            <a:ln w="31750">
              <a:solidFill>
                <a:srgbClr val="FF3300"/>
              </a:solidFill>
              <a:tailEnd len="med" type="arrow" w="med"/>
            </a:ln>
          </p:spPr>
        </p:cxnSp>
        <p:cxnSp>
          <p:nvCxnSpPr>
            <p:cNvPr id="363" name="Straight Arrow Connector 16"/>
            <p:cNvCxnSpPr/>
            <p:nvPr/>
          </p:nvCxnSpPr>
          <p:spPr>
            <a:xfrm flipV="1">
              <a:off x="10141560" y="1008720"/>
              <a:ext cx="78840" cy="372600"/>
            </a:xfrm>
            <a:prstGeom prst="straightConnector1">
              <a:avLst/>
            </a:prstGeom>
            <a:ln w="31750">
              <a:solidFill>
                <a:srgbClr val="FF3300"/>
              </a:solidFill>
              <a:tailEnd len="med" type="arrow" w="med"/>
            </a:ln>
          </p:spPr>
        </p:cxnSp>
        <p:cxnSp>
          <p:nvCxnSpPr>
            <p:cNvPr id="364" name="Straight Arrow Connector 17"/>
            <p:cNvCxnSpPr/>
            <p:nvPr/>
          </p:nvCxnSpPr>
          <p:spPr>
            <a:xfrm flipV="1">
              <a:off x="10706400" y="1019160"/>
              <a:ext cx="201240" cy="315000"/>
            </a:xfrm>
            <a:prstGeom prst="straightConnector1">
              <a:avLst/>
            </a:prstGeom>
            <a:ln w="31750">
              <a:solidFill>
                <a:srgbClr val="FF3300"/>
              </a:solidFill>
              <a:tailEnd len="med" type="arrow" w="med"/>
            </a:ln>
          </p:spPr>
        </p:cxnSp>
      </p:grpSp>
      <p:sp>
        <p:nvSpPr>
          <p:cNvPr id="365" name="Right Bracket 2"/>
          <p:cNvSpPr/>
          <p:nvPr/>
        </p:nvSpPr>
        <p:spPr>
          <a:xfrm>
            <a:off x="2793240" y="950760"/>
            <a:ext cx="75960" cy="811080"/>
          </a:xfrm>
          <a:prstGeom prst="rightBracket">
            <a:avLst>
              <a:gd name="adj" fmla="val 8333"/>
            </a:avLst>
          </a:prstGeom>
          <a:noFill/>
          <a:ln w="3810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6" name="Left Bracket 5"/>
          <p:cNvSpPr/>
          <p:nvPr/>
        </p:nvSpPr>
        <p:spPr>
          <a:xfrm>
            <a:off x="2388960" y="949320"/>
            <a:ext cx="75960" cy="813240"/>
          </a:xfrm>
          <a:prstGeom prst="leftBracket">
            <a:avLst>
              <a:gd name="adj" fmla="val 8333"/>
            </a:avLst>
          </a:prstGeom>
          <a:noFill/>
          <a:ln w="3175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67" name="Table 6"/>
          <p:cNvGraphicFramePr/>
          <p:nvPr/>
        </p:nvGraphicFramePr>
        <p:xfrm>
          <a:off x="2456640" y="818640"/>
          <a:ext cx="320400" cy="1098360"/>
        </p:xfrm>
        <a:graphic>
          <a:graphicData uri="http://schemas.openxmlformats.org/drawingml/2006/table">
            <a:tbl>
              <a:tblPr/>
              <a:tblGrid>
                <a:gridCol w="32040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68" name="Text Box 18"/>
          <p:cNvSpPr/>
          <p:nvPr/>
        </p:nvSpPr>
        <p:spPr>
          <a:xfrm>
            <a:off x="2869560" y="1161360"/>
            <a:ext cx="16498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  +          c =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Right Bracket 20"/>
          <p:cNvSpPr/>
          <p:nvPr/>
        </p:nvSpPr>
        <p:spPr>
          <a:xfrm>
            <a:off x="3916080" y="950040"/>
            <a:ext cx="92520" cy="811800"/>
          </a:xfrm>
          <a:prstGeom prst="rightBracket">
            <a:avLst>
              <a:gd name="adj" fmla="val 8333"/>
            </a:avLst>
          </a:prstGeom>
          <a:noFill/>
          <a:ln w="3810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0" name="Left Bracket 21"/>
          <p:cNvSpPr/>
          <p:nvPr/>
        </p:nvSpPr>
        <p:spPr>
          <a:xfrm>
            <a:off x="3511440" y="949320"/>
            <a:ext cx="92520" cy="813240"/>
          </a:xfrm>
          <a:prstGeom prst="leftBracket">
            <a:avLst>
              <a:gd name="adj" fmla="val 8333"/>
            </a:avLst>
          </a:prstGeom>
          <a:noFill/>
          <a:ln w="3175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71" name="Table 22"/>
          <p:cNvGraphicFramePr/>
          <p:nvPr/>
        </p:nvGraphicFramePr>
        <p:xfrm>
          <a:off x="3603600" y="798120"/>
          <a:ext cx="312120" cy="1098360"/>
        </p:xfrm>
        <a:graphic>
          <a:graphicData uri="http://schemas.openxmlformats.org/drawingml/2006/table">
            <a:tbl>
              <a:tblPr/>
              <a:tblGrid>
                <a:gridCol w="31212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72" name="Table 23"/>
          <p:cNvGraphicFramePr/>
          <p:nvPr/>
        </p:nvGraphicFramePr>
        <p:xfrm>
          <a:off x="4410720" y="828720"/>
          <a:ext cx="725400" cy="1098360"/>
        </p:xfrm>
        <a:graphic>
          <a:graphicData uri="http://schemas.openxmlformats.org/drawingml/2006/table">
            <a:tbl>
              <a:tblPr/>
              <a:tblGrid>
                <a:gridCol w="72576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73" name="Left Bracket 26"/>
          <p:cNvSpPr/>
          <p:nvPr/>
        </p:nvSpPr>
        <p:spPr>
          <a:xfrm>
            <a:off x="4527720" y="949320"/>
            <a:ext cx="76320" cy="870840"/>
          </a:xfrm>
          <a:prstGeom prst="leftBracket">
            <a:avLst>
              <a:gd name="adj" fmla="val 8333"/>
            </a:avLst>
          </a:prstGeom>
          <a:noFill/>
          <a:ln w="3175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4" name="Right Bracket 32"/>
          <p:cNvSpPr/>
          <p:nvPr/>
        </p:nvSpPr>
        <p:spPr>
          <a:xfrm>
            <a:off x="4886280" y="950040"/>
            <a:ext cx="75960" cy="869760"/>
          </a:xfrm>
          <a:prstGeom prst="rightBracket">
            <a:avLst>
              <a:gd name="adj" fmla="val 8333"/>
            </a:avLst>
          </a:prstGeom>
          <a:noFill/>
          <a:ln w="3810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Box 24"/>
          <p:cNvSpPr/>
          <p:nvPr/>
        </p:nvSpPr>
        <p:spPr>
          <a:xfrm>
            <a:off x="2276640" y="1926000"/>
            <a:ext cx="27709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a1                 a2            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PlaceHolder 2"/>
          <p:cNvSpPr>
            <a:spLocks noGrp="1"/>
          </p:cNvSpPr>
          <p:nvPr>
            <p:ph/>
          </p:nvPr>
        </p:nvSpPr>
        <p:spPr>
          <a:xfrm>
            <a:off x="647640" y="2506320"/>
            <a:ext cx="10515240" cy="326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A &lt;- 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b &lt;- 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lm(?~?)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pic>
        <p:nvPicPr>
          <p:cNvPr id="377" name="Picture 3"/>
          <p:cNvPicPr/>
          <p:nvPr/>
        </p:nvPicPr>
        <p:blipFill>
          <a:blip r:embed="rId4"/>
          <a:stretch/>
        </p:blipFill>
        <p:spPr>
          <a:xfrm>
            <a:off x="542160" y="4158000"/>
            <a:ext cx="4446720" cy="240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8" name="Picture 33"/>
          <p:cNvPicPr/>
          <p:nvPr/>
        </p:nvPicPr>
        <p:blipFill>
          <a:blip r:embed="rId5"/>
          <a:stretch/>
        </p:blipFill>
        <p:spPr>
          <a:xfrm>
            <a:off x="5598720" y="1926000"/>
            <a:ext cx="2534040" cy="2332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title"/>
          </p:nvPr>
        </p:nvSpPr>
        <p:spPr>
          <a:xfrm>
            <a:off x="639360" y="176040"/>
            <a:ext cx="10515240" cy="55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Canno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t </a:t>
            </a:r>
            <a:r>
              <a:rPr lang="vi-VN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Fitting </a:t>
            </a:r>
            <a:r>
              <a:rPr lang="vi-VN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a line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going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throug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h</a:t>
            </a:r>
            <a:r>
              <a:rPr lang="vi-VN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vi-VN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three </a:t>
            </a:r>
            <a:r>
              <a:rPr lang="vi-VN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points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: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using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calcul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us</a:t>
            </a:r>
            <a:endParaRPr lang="en-US" sz="2400" b="1" u="none" strike="noStrike">
              <a:solidFill>
                <a:schemeClr val="dk1"/>
              </a:solidFill>
              <a:effectLst/>
              <a:uFillTx/>
              <a:latin typeface="Arial Black"/>
            </a:endParaRPr>
          </a:p>
        </p:txBody>
      </p:sp>
      <p:grpSp>
        <p:nvGrpSpPr>
          <p:cNvPr id="380" name="Group 19"/>
          <p:cNvGrpSpPr/>
          <p:nvPr/>
        </p:nvGrpSpPr>
        <p:grpSpPr>
          <a:xfrm>
            <a:off x="8627760" y="1062360"/>
            <a:ext cx="1956600" cy="1460160"/>
            <a:chOff x="8627760" y="1062360"/>
            <a:chExt cx="1956600" cy="1460160"/>
          </a:xfrm>
        </p:grpSpPr>
        <p:sp>
          <p:nvSpPr>
            <p:cNvPr id="381" name="Text Box 7"/>
            <p:cNvSpPr/>
            <p:nvPr/>
          </p:nvSpPr>
          <p:spPr>
            <a:xfrm>
              <a:off x="8677440" y="1062360"/>
              <a:ext cx="1885680" cy="832680"/>
            </a:xfrm>
            <a:prstGeom prst="rect">
              <a:avLst/>
            </a:prstGeom>
            <a:blipFill rotWithShape="0">
              <a:blip r:embed="rId1"/>
              <a:srcRect/>
              <a:tile tx="0" ty="0" sx="100000" sy="100000" algn="tl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rgbClr val="FFFFFF">
                      <a:alpha val="1000"/>
                    </a:srgbClr>
                  </a:solidFill>
                  <a:effectLst/>
                  <a:uFillTx/>
                  <a:latin typeface="Arial"/>
                </a:rPr>
                <a:t> 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2" name="Left Bracket 8"/>
            <p:cNvSpPr/>
            <p:nvPr/>
          </p:nvSpPr>
          <p:spPr>
            <a:xfrm>
              <a:off x="8627760" y="1121400"/>
              <a:ext cx="132840" cy="776880"/>
            </a:xfrm>
            <a:prstGeom prst="leftBracket">
              <a:avLst>
                <a:gd name="adj" fmla="val 8333"/>
              </a:avLst>
            </a:prstGeom>
            <a:noFill/>
            <a:ln w="28575">
              <a:solidFill>
                <a:srgbClr val="5B9BD5">
                  <a:shade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3" name="Left Bracket 9"/>
            <p:cNvSpPr/>
            <p:nvPr/>
          </p:nvSpPr>
          <p:spPr>
            <a:xfrm>
              <a:off x="10168200" y="1123920"/>
              <a:ext cx="132840" cy="776880"/>
            </a:xfrm>
            <a:prstGeom prst="leftBracket">
              <a:avLst>
                <a:gd name="adj" fmla="val 8333"/>
              </a:avLst>
            </a:prstGeom>
            <a:noFill/>
            <a:ln w="28575">
              <a:solidFill>
                <a:srgbClr val="5B9BD5">
                  <a:shade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4" name="Left Bracket 10"/>
            <p:cNvSpPr/>
            <p:nvPr/>
          </p:nvSpPr>
          <p:spPr>
            <a:xfrm rot="10800000">
              <a:off x="9243000" y="1116720"/>
              <a:ext cx="132840" cy="776880"/>
            </a:xfrm>
            <a:prstGeom prst="leftBracket">
              <a:avLst>
                <a:gd name="adj" fmla="val 0"/>
              </a:avLst>
            </a:prstGeom>
            <a:noFill/>
            <a:ln w="28575">
              <a:solidFill>
                <a:srgbClr val="5B9BD5">
                  <a:shade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5" name="Left Bracket 12"/>
            <p:cNvSpPr/>
            <p:nvPr/>
          </p:nvSpPr>
          <p:spPr>
            <a:xfrm rot="10800000">
              <a:off x="10451520" y="1114200"/>
              <a:ext cx="132840" cy="776880"/>
            </a:xfrm>
            <a:prstGeom prst="leftBracket">
              <a:avLst>
                <a:gd name="adj" fmla="val 0"/>
              </a:avLst>
            </a:prstGeom>
            <a:noFill/>
            <a:ln w="28575">
              <a:solidFill>
                <a:srgbClr val="5B9BD5">
                  <a:shade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6" name="Left Bracket 13"/>
            <p:cNvSpPr/>
            <p:nvPr/>
          </p:nvSpPr>
          <p:spPr>
            <a:xfrm>
              <a:off x="9518040" y="1226880"/>
              <a:ext cx="79560" cy="586440"/>
            </a:xfrm>
            <a:prstGeom prst="leftBracket">
              <a:avLst>
                <a:gd name="adj" fmla="val 8333"/>
              </a:avLst>
            </a:prstGeom>
            <a:noFill/>
            <a:ln w="28575">
              <a:solidFill>
                <a:srgbClr val="5B9BD5">
                  <a:shade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7" name="Left Bracket 14"/>
            <p:cNvSpPr/>
            <p:nvPr/>
          </p:nvSpPr>
          <p:spPr>
            <a:xfrm rot="10800000">
              <a:off x="9808200" y="1211760"/>
              <a:ext cx="79560" cy="586440"/>
            </a:xfrm>
            <a:prstGeom prst="leftBracket">
              <a:avLst>
                <a:gd name="adj" fmla="val 8333"/>
              </a:avLst>
            </a:prstGeom>
            <a:noFill/>
            <a:ln w="28575">
              <a:solidFill>
                <a:srgbClr val="5B9BD5">
                  <a:shade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8" name="Text Box 11"/>
            <p:cNvSpPr/>
            <p:nvPr/>
          </p:nvSpPr>
          <p:spPr>
            <a:xfrm>
              <a:off x="9147240" y="2154600"/>
              <a:ext cx="1017000" cy="367920"/>
            </a:xfrm>
            <a:prstGeom prst="rect">
              <a:avLst/>
            </a:prstGeom>
            <a:blipFill rotWithShape="0">
              <a:blip r:embed="rId2"/>
              <a:srcRect/>
              <a:tile tx="0" ty="0" sx="100000" sy="100000" algn="tl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rgbClr val="FFFFFF">
                      <a:alpha val="1000"/>
                    </a:srgbClr>
                  </a:solidFill>
                  <a:effectLst/>
                  <a:uFillTx/>
                  <a:latin typeface="Arial"/>
                </a:rPr>
                <a:t> 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389" name="Straight Arrow Connector 15"/>
            <p:cNvCxnSpPr/>
            <p:nvPr/>
          </p:nvCxnSpPr>
          <p:spPr>
            <a:xfrm flipH="1" flipV="1">
              <a:off x="9146880" y="1928160"/>
              <a:ext cx="188280" cy="286200"/>
            </a:xfrm>
            <a:prstGeom prst="straightConnector1">
              <a:avLst/>
            </a:prstGeom>
            <a:ln w="31750">
              <a:solidFill>
                <a:srgbClr val="FF3300"/>
              </a:solidFill>
              <a:tailEnd len="med" type="arrow" w="med"/>
            </a:ln>
          </p:spPr>
        </p:cxnSp>
        <p:cxnSp>
          <p:nvCxnSpPr>
            <p:cNvPr id="390" name="Straight Arrow Connector 16"/>
            <p:cNvCxnSpPr/>
            <p:nvPr/>
          </p:nvCxnSpPr>
          <p:spPr>
            <a:xfrm flipV="1">
              <a:off x="9570600" y="1895400"/>
              <a:ext cx="79200" cy="372240"/>
            </a:xfrm>
            <a:prstGeom prst="straightConnector1">
              <a:avLst/>
            </a:prstGeom>
            <a:ln w="31750">
              <a:solidFill>
                <a:srgbClr val="FF3300"/>
              </a:solidFill>
              <a:tailEnd len="med" type="arrow" w="med"/>
            </a:ln>
          </p:spPr>
        </p:cxnSp>
        <p:cxnSp>
          <p:nvCxnSpPr>
            <p:cNvPr id="391" name="Straight Arrow Connector 17"/>
            <p:cNvCxnSpPr/>
            <p:nvPr/>
          </p:nvCxnSpPr>
          <p:spPr>
            <a:xfrm flipV="1">
              <a:off x="10135800" y="1905480"/>
              <a:ext cx="200880" cy="315360"/>
            </a:xfrm>
            <a:prstGeom prst="straightConnector1">
              <a:avLst/>
            </a:prstGeom>
            <a:ln w="31750">
              <a:solidFill>
                <a:srgbClr val="FF3300"/>
              </a:solidFill>
              <a:tailEnd len="med" type="arrow" w="med"/>
            </a:ln>
          </p:spPr>
        </p:cxnSp>
      </p:grpSp>
      <p:sp>
        <p:nvSpPr>
          <p:cNvPr id="392" name="Right Bracket 2"/>
          <p:cNvSpPr/>
          <p:nvPr/>
        </p:nvSpPr>
        <p:spPr>
          <a:xfrm>
            <a:off x="2793240" y="950760"/>
            <a:ext cx="75960" cy="811080"/>
          </a:xfrm>
          <a:prstGeom prst="rightBracket">
            <a:avLst>
              <a:gd name="adj" fmla="val 8333"/>
            </a:avLst>
          </a:prstGeom>
          <a:noFill/>
          <a:ln w="3810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3" name="Left Bracket 5"/>
          <p:cNvSpPr/>
          <p:nvPr/>
        </p:nvSpPr>
        <p:spPr>
          <a:xfrm>
            <a:off x="2388960" y="949320"/>
            <a:ext cx="75960" cy="813240"/>
          </a:xfrm>
          <a:prstGeom prst="leftBracket">
            <a:avLst>
              <a:gd name="adj" fmla="val 8333"/>
            </a:avLst>
          </a:prstGeom>
          <a:noFill/>
          <a:ln w="3175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94" name="Table 6"/>
          <p:cNvGraphicFramePr/>
          <p:nvPr/>
        </p:nvGraphicFramePr>
        <p:xfrm>
          <a:off x="2456640" y="818640"/>
          <a:ext cx="320400" cy="1098360"/>
        </p:xfrm>
        <a:graphic>
          <a:graphicData uri="http://schemas.openxmlformats.org/drawingml/2006/table">
            <a:tbl>
              <a:tblPr/>
              <a:tblGrid>
                <a:gridCol w="32040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95" name="Text Box 18"/>
          <p:cNvSpPr/>
          <p:nvPr/>
        </p:nvSpPr>
        <p:spPr>
          <a:xfrm>
            <a:off x="2869560" y="1161360"/>
            <a:ext cx="16498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  +          c =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Right Bracket 20"/>
          <p:cNvSpPr/>
          <p:nvPr/>
        </p:nvSpPr>
        <p:spPr>
          <a:xfrm>
            <a:off x="3916080" y="950040"/>
            <a:ext cx="92520" cy="811800"/>
          </a:xfrm>
          <a:prstGeom prst="rightBracket">
            <a:avLst>
              <a:gd name="adj" fmla="val 8333"/>
            </a:avLst>
          </a:prstGeom>
          <a:noFill/>
          <a:ln w="3810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7" name="Left Bracket 21"/>
          <p:cNvSpPr/>
          <p:nvPr/>
        </p:nvSpPr>
        <p:spPr>
          <a:xfrm>
            <a:off x="3511440" y="949320"/>
            <a:ext cx="92520" cy="813240"/>
          </a:xfrm>
          <a:prstGeom prst="leftBracket">
            <a:avLst>
              <a:gd name="adj" fmla="val 8333"/>
            </a:avLst>
          </a:prstGeom>
          <a:noFill/>
          <a:ln w="3175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98" name="Table 22"/>
          <p:cNvGraphicFramePr/>
          <p:nvPr/>
        </p:nvGraphicFramePr>
        <p:xfrm>
          <a:off x="3603600" y="798120"/>
          <a:ext cx="312120" cy="1098360"/>
        </p:xfrm>
        <a:graphic>
          <a:graphicData uri="http://schemas.openxmlformats.org/drawingml/2006/table">
            <a:tbl>
              <a:tblPr/>
              <a:tblGrid>
                <a:gridCol w="31212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99" name="Table 23"/>
          <p:cNvGraphicFramePr/>
          <p:nvPr/>
        </p:nvGraphicFramePr>
        <p:xfrm>
          <a:off x="4410720" y="828720"/>
          <a:ext cx="725400" cy="1098360"/>
        </p:xfrm>
        <a:graphic>
          <a:graphicData uri="http://schemas.openxmlformats.org/drawingml/2006/table">
            <a:tbl>
              <a:tblPr/>
              <a:tblGrid>
                <a:gridCol w="72576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00" name="Left Bracket 26"/>
          <p:cNvSpPr/>
          <p:nvPr/>
        </p:nvSpPr>
        <p:spPr>
          <a:xfrm>
            <a:off x="4527720" y="949320"/>
            <a:ext cx="76320" cy="870840"/>
          </a:xfrm>
          <a:prstGeom prst="leftBracket">
            <a:avLst>
              <a:gd name="adj" fmla="val 8333"/>
            </a:avLst>
          </a:prstGeom>
          <a:noFill/>
          <a:ln w="3175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1" name="Right Bracket 32"/>
          <p:cNvSpPr/>
          <p:nvPr/>
        </p:nvSpPr>
        <p:spPr>
          <a:xfrm>
            <a:off x="4886280" y="950040"/>
            <a:ext cx="75960" cy="869760"/>
          </a:xfrm>
          <a:prstGeom prst="rightBracket">
            <a:avLst>
              <a:gd name="adj" fmla="val 8333"/>
            </a:avLst>
          </a:prstGeom>
          <a:noFill/>
          <a:ln w="38100">
            <a:solidFill>
              <a:srgbClr val="5B9BD5">
                <a:shade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Box 24"/>
          <p:cNvSpPr/>
          <p:nvPr/>
        </p:nvSpPr>
        <p:spPr>
          <a:xfrm>
            <a:off x="2276640" y="1926000"/>
            <a:ext cx="27709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PlaceHolder 2"/>
          <p:cNvSpPr>
            <a:spLocks noGrp="1"/>
          </p:cNvSpPr>
          <p:nvPr>
            <p:ph/>
          </p:nvPr>
        </p:nvSpPr>
        <p:spPr>
          <a:xfrm>
            <a:off x="639360" y="2668320"/>
            <a:ext cx="6312240" cy="326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en-US" sz="28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There is not</a:t>
            </a:r>
            <a:r>
              <a:rPr lang="en-US" sz="2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 a line going through A, B and C’: </a:t>
            </a:r>
            <a:endParaRPr lang="en-US" sz="2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             y = m * x + c</a:t>
            </a:r>
            <a:endParaRPr lang="en-US" sz="2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For A:  </a:t>
            </a:r>
            <a:r>
              <a:rPr lang="en-US" sz="2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	</a:t>
            </a:r>
            <a:r>
              <a:rPr lang="en-US" sz="2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1     = m * 1 + c </a:t>
            </a:r>
            <a:endParaRPr lang="en-US" sz="2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For B:  </a:t>
            </a:r>
            <a:r>
              <a:rPr lang="en-US" sz="2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	</a:t>
            </a:r>
            <a:r>
              <a:rPr lang="en-US" sz="2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2     = m * 3 + c</a:t>
            </a:r>
            <a:endParaRPr lang="en-US" sz="2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  <a:tabLst>
                <a:tab pos="0" algn="l"/>
              </a:tabLst>
            </a:pPr>
            <a:r>
              <a:rPr lang="vi-VN" sz="2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For C</a:t>
            </a:r>
            <a:r>
              <a:rPr lang="en-US" sz="2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’</a:t>
            </a:r>
            <a:r>
              <a:rPr lang="vi-VN" sz="2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: </a:t>
            </a:r>
            <a:r>
              <a:rPr lang="en-US" sz="2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	</a:t>
            </a:r>
            <a:r>
              <a:rPr lang="vi-VN" sz="2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2 </a:t>
            </a:r>
            <a:r>
              <a:rPr lang="en-US" sz="2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    </a:t>
            </a:r>
            <a:r>
              <a:rPr lang="vi-VN" sz="2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= m * 4 + c </a:t>
            </a:r>
            <a:endParaRPr lang="en-US" sz="2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Minimize sum of square of e</a:t>
            </a:r>
            <a:r>
              <a:rPr lang="en-US" sz="2800" b="0" u="none" strike="noStrike" baseline="-25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A</a:t>
            </a:r>
            <a:r>
              <a:rPr lang="en-US" sz="2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, e</a:t>
            </a:r>
            <a:r>
              <a:rPr lang="en-US" sz="2800" b="0" u="none" strike="noStrike" baseline="-25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B</a:t>
            </a:r>
            <a:r>
              <a:rPr lang="en-US" sz="2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, e</a:t>
            </a:r>
            <a:r>
              <a:rPr lang="en-US" sz="2800" b="0" u="none" strike="noStrike" baseline="-25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C</a:t>
            </a:r>
            <a:endParaRPr lang="en-US" sz="2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pic>
        <p:nvPicPr>
          <p:cNvPr id="404" name="Picture 3"/>
          <p:cNvPicPr/>
          <p:nvPr/>
        </p:nvPicPr>
        <p:blipFill>
          <a:blip r:embed="rId3"/>
          <a:stretch/>
        </p:blipFill>
        <p:spPr>
          <a:xfrm>
            <a:off x="7032600" y="2730960"/>
            <a:ext cx="4552560" cy="3800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05" name="Straight Connector 28"/>
          <p:cNvCxnSpPr/>
          <p:nvPr/>
        </p:nvCxnSpPr>
        <p:spPr>
          <a:xfrm flipV="1">
            <a:off x="7930800" y="3882960"/>
            <a:ext cx="2805840" cy="1645560"/>
          </a:xfrm>
          <a:prstGeom prst="straightConnector1">
            <a:avLst/>
          </a:prstGeom>
          <a:ln w="41275">
            <a:solidFill>
              <a:srgbClr val="5B9BD5"/>
            </a:solidFill>
          </a:ln>
        </p:spPr>
      </p:cxnSp>
      <p:cxnSp>
        <p:nvCxnSpPr>
          <p:cNvPr id="406" name="Straight Connector 29"/>
          <p:cNvCxnSpPr/>
          <p:nvPr/>
        </p:nvCxnSpPr>
        <p:spPr>
          <a:xfrm flipV="1">
            <a:off x="10105200" y="4262040"/>
            <a:ext cx="1080" cy="190080"/>
          </a:xfrm>
          <a:prstGeom prst="straightConnector1">
            <a:avLst/>
          </a:prstGeom>
          <a:ln w="47625">
            <a:solidFill>
              <a:srgbClr val="FFC000">
                <a:lumMod val="75000"/>
              </a:srgbClr>
            </a:solidFill>
          </a:ln>
        </p:spPr>
      </p:cxnSp>
      <p:cxnSp>
        <p:nvCxnSpPr>
          <p:cNvPr id="407" name="Straight Connector 30"/>
          <p:cNvCxnSpPr/>
          <p:nvPr/>
        </p:nvCxnSpPr>
        <p:spPr>
          <a:xfrm flipV="1">
            <a:off x="9466560" y="4451760"/>
            <a:ext cx="720" cy="190440"/>
          </a:xfrm>
          <a:prstGeom prst="straightConnector1">
            <a:avLst/>
          </a:prstGeom>
          <a:ln w="47625">
            <a:solidFill>
              <a:srgbClr val="FFC000">
                <a:lumMod val="75000"/>
              </a:srgbClr>
            </a:solidFill>
          </a:ln>
        </p:spPr>
      </p:cxnSp>
      <p:cxnSp>
        <p:nvCxnSpPr>
          <p:cNvPr id="408" name="Straight Connector 31"/>
          <p:cNvCxnSpPr/>
          <p:nvPr/>
        </p:nvCxnSpPr>
        <p:spPr>
          <a:xfrm flipV="1">
            <a:off x="8197200" y="5207400"/>
            <a:ext cx="2880" cy="174960"/>
          </a:xfrm>
          <a:prstGeom prst="straightConnector1">
            <a:avLst/>
          </a:prstGeom>
          <a:ln w="47625">
            <a:solidFill>
              <a:srgbClr val="FFC000">
                <a:lumMod val="75000"/>
              </a:srgbClr>
            </a:solidFill>
          </a:ln>
        </p:spPr>
      </p:cxnSp>
      <p:sp>
        <p:nvSpPr>
          <p:cNvPr id="409" name="Text Box 33"/>
          <p:cNvSpPr/>
          <p:nvPr/>
        </p:nvSpPr>
        <p:spPr>
          <a:xfrm>
            <a:off x="8277840" y="5292000"/>
            <a:ext cx="86904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</a:t>
            </a:r>
            <a:r>
              <a:rPr lang="en-US" sz="3600" b="1" u="none" strike="noStrike" baseline="-25000">
                <a:solidFill>
                  <a:schemeClr val="dk1"/>
                </a:solidFill>
                <a:effectLst/>
                <a:uFillTx/>
                <a:latin typeface="Arial"/>
              </a:rPr>
              <a:t>A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Box 34"/>
          <p:cNvSpPr/>
          <p:nvPr/>
        </p:nvSpPr>
        <p:spPr>
          <a:xfrm>
            <a:off x="9175680" y="4737240"/>
            <a:ext cx="86904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</a:t>
            </a:r>
            <a:r>
              <a:rPr lang="en-US" sz="3600" b="1" u="none" strike="noStrike" baseline="-25000">
                <a:solidFill>
                  <a:schemeClr val="dk1"/>
                </a:solidFill>
                <a:effectLst/>
                <a:uFillTx/>
                <a:latin typeface="Arial"/>
              </a:rPr>
              <a:t>B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Box 35"/>
          <p:cNvSpPr/>
          <p:nvPr/>
        </p:nvSpPr>
        <p:spPr>
          <a:xfrm>
            <a:off x="10135800" y="4452120"/>
            <a:ext cx="86904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</a:t>
            </a:r>
            <a:r>
              <a:rPr lang="en-US" sz="3600" b="1" u="none" strike="noStrike" baseline="-25000">
                <a:solidFill>
                  <a:schemeClr val="dk1"/>
                </a:solidFill>
                <a:effectLst/>
                <a:uFillTx/>
                <a:latin typeface="Arial"/>
              </a:rPr>
              <a:t>C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PlaceHolder 1"/>
          <p:cNvSpPr>
            <a:spLocks noGrp="1"/>
          </p:cNvSpPr>
          <p:nvPr>
            <p:ph type="title"/>
          </p:nvPr>
        </p:nvSpPr>
        <p:spPr>
          <a:xfrm>
            <a:off x="639360" y="176040"/>
            <a:ext cx="10515240" cy="55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Exercise: Minimize sum of square of e</a:t>
            </a:r>
            <a:r>
              <a:rPr lang="en-US" sz="2400" b="1" u="none" strike="noStrike" baseline="-25000">
                <a:solidFill>
                  <a:schemeClr val="dk1"/>
                </a:solidFill>
                <a:effectLst/>
                <a:uFillTx/>
                <a:latin typeface="C059"/>
              </a:rPr>
              <a:t>A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, e</a:t>
            </a:r>
            <a:r>
              <a:rPr lang="en-US" sz="2400" b="1" u="none" strike="noStrike" baseline="-25000">
                <a:solidFill>
                  <a:schemeClr val="dk1"/>
                </a:solidFill>
                <a:effectLst/>
                <a:uFillTx/>
                <a:latin typeface="C059"/>
              </a:rPr>
              <a:t>B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, e</a:t>
            </a:r>
            <a:r>
              <a:rPr lang="en-US" sz="2400" b="1" u="none" strike="noStrike" baseline="-25000">
                <a:solidFill>
                  <a:schemeClr val="dk1"/>
                </a:solidFill>
                <a:effectLst/>
                <a:uFillTx/>
                <a:latin typeface="C059"/>
              </a:rPr>
              <a:t>C</a:t>
            </a:r>
            <a:endParaRPr lang="en-US" sz="2400" b="1" u="none" strike="noStrike">
              <a:solidFill>
                <a:schemeClr val="dk1"/>
              </a:solidFill>
              <a:effectLst/>
              <a:uFillTx/>
              <a:latin typeface="C059"/>
            </a:endParaRPr>
          </a:p>
        </p:txBody>
      </p:sp>
      <p:grpSp>
        <p:nvGrpSpPr>
          <p:cNvPr id="413" name="Group 19"/>
          <p:cNvGrpSpPr/>
          <p:nvPr/>
        </p:nvGrpSpPr>
        <p:grpSpPr>
          <a:xfrm>
            <a:off x="8627760" y="1062360"/>
            <a:ext cx="1956600" cy="1460160"/>
            <a:chOff x="8627760" y="1062360"/>
            <a:chExt cx="1956600" cy="1460160"/>
          </a:xfrm>
        </p:grpSpPr>
        <p:sp>
          <p:nvSpPr>
            <p:cNvPr id="414" name="Text Box 7"/>
            <p:cNvSpPr/>
            <p:nvPr/>
          </p:nvSpPr>
          <p:spPr>
            <a:xfrm>
              <a:off x="8677440" y="1062360"/>
              <a:ext cx="1885680" cy="832680"/>
            </a:xfrm>
            <a:prstGeom prst="rect">
              <a:avLst/>
            </a:prstGeom>
            <a:blipFill rotWithShape="0">
              <a:blip r:embed="rId1"/>
              <a:srcRect/>
              <a:tile tx="0" ty="0" sx="100000" sy="100000" algn="tl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rgbClr val="FFFFFF">
                      <a:alpha val="1000"/>
                    </a:srgbClr>
                  </a:solidFill>
                  <a:effectLst/>
                  <a:uFillTx/>
                  <a:latin typeface="Arial"/>
                </a:rPr>
                <a:t> 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5" name="Left Bracket 8"/>
            <p:cNvSpPr/>
            <p:nvPr/>
          </p:nvSpPr>
          <p:spPr>
            <a:xfrm>
              <a:off x="8627760" y="1121400"/>
              <a:ext cx="132840" cy="776880"/>
            </a:xfrm>
            <a:prstGeom prst="leftBracket">
              <a:avLst>
                <a:gd name="adj" fmla="val 8333"/>
              </a:avLst>
            </a:prstGeom>
            <a:noFill/>
            <a:ln w="28575">
              <a:solidFill>
                <a:srgbClr val="5B9BD5">
                  <a:shade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6" name="Left Bracket 9"/>
            <p:cNvSpPr/>
            <p:nvPr/>
          </p:nvSpPr>
          <p:spPr>
            <a:xfrm>
              <a:off x="10168200" y="1123920"/>
              <a:ext cx="132840" cy="776880"/>
            </a:xfrm>
            <a:prstGeom prst="leftBracket">
              <a:avLst>
                <a:gd name="adj" fmla="val 8333"/>
              </a:avLst>
            </a:prstGeom>
            <a:noFill/>
            <a:ln w="28575">
              <a:solidFill>
                <a:srgbClr val="5B9BD5">
                  <a:shade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7" name="Left Bracket 10"/>
            <p:cNvSpPr/>
            <p:nvPr/>
          </p:nvSpPr>
          <p:spPr>
            <a:xfrm rot="10800000">
              <a:off x="9243000" y="1116720"/>
              <a:ext cx="132840" cy="776880"/>
            </a:xfrm>
            <a:prstGeom prst="leftBracket">
              <a:avLst>
                <a:gd name="adj" fmla="val 0"/>
              </a:avLst>
            </a:prstGeom>
            <a:noFill/>
            <a:ln w="28575">
              <a:solidFill>
                <a:srgbClr val="5B9BD5">
                  <a:shade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8" name="Left Bracket 12"/>
            <p:cNvSpPr/>
            <p:nvPr/>
          </p:nvSpPr>
          <p:spPr>
            <a:xfrm rot="10800000">
              <a:off x="10451520" y="1114200"/>
              <a:ext cx="132840" cy="776880"/>
            </a:xfrm>
            <a:prstGeom prst="leftBracket">
              <a:avLst>
                <a:gd name="adj" fmla="val 0"/>
              </a:avLst>
            </a:prstGeom>
            <a:noFill/>
            <a:ln w="28575">
              <a:solidFill>
                <a:srgbClr val="5B9BD5">
                  <a:shade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9" name="Left Bracket 13"/>
            <p:cNvSpPr/>
            <p:nvPr/>
          </p:nvSpPr>
          <p:spPr>
            <a:xfrm>
              <a:off x="9518040" y="1226880"/>
              <a:ext cx="79560" cy="586440"/>
            </a:xfrm>
            <a:prstGeom prst="leftBracket">
              <a:avLst>
                <a:gd name="adj" fmla="val 8333"/>
              </a:avLst>
            </a:prstGeom>
            <a:noFill/>
            <a:ln w="28575">
              <a:solidFill>
                <a:srgbClr val="5B9BD5">
                  <a:shade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0" name="Left Bracket 14"/>
            <p:cNvSpPr/>
            <p:nvPr/>
          </p:nvSpPr>
          <p:spPr>
            <a:xfrm rot="10800000">
              <a:off x="9808200" y="1211760"/>
              <a:ext cx="79560" cy="586440"/>
            </a:xfrm>
            <a:prstGeom prst="leftBracket">
              <a:avLst>
                <a:gd name="adj" fmla="val 8333"/>
              </a:avLst>
            </a:prstGeom>
            <a:noFill/>
            <a:ln w="28575">
              <a:solidFill>
                <a:srgbClr val="5B9BD5">
                  <a:shade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1" name="Text Box 11"/>
            <p:cNvSpPr/>
            <p:nvPr/>
          </p:nvSpPr>
          <p:spPr>
            <a:xfrm>
              <a:off x="9147240" y="2154600"/>
              <a:ext cx="1017000" cy="367920"/>
            </a:xfrm>
            <a:prstGeom prst="rect">
              <a:avLst/>
            </a:prstGeom>
            <a:blipFill rotWithShape="0">
              <a:blip r:embed="rId2"/>
              <a:srcRect/>
              <a:tile tx="0" ty="0" sx="100000" sy="100000" algn="tl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rgbClr val="FFFFFF">
                      <a:alpha val="1000"/>
                    </a:srgbClr>
                  </a:solidFill>
                  <a:effectLst/>
                  <a:uFillTx/>
                  <a:latin typeface="Arial"/>
                </a:rPr>
                <a:t> 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422" name="Straight Arrow Connector 15"/>
            <p:cNvCxnSpPr/>
            <p:nvPr/>
          </p:nvCxnSpPr>
          <p:spPr>
            <a:xfrm flipH="1" flipV="1">
              <a:off x="9146880" y="1928160"/>
              <a:ext cx="188280" cy="286200"/>
            </a:xfrm>
            <a:prstGeom prst="straightConnector1">
              <a:avLst/>
            </a:prstGeom>
            <a:ln w="31750">
              <a:solidFill>
                <a:srgbClr val="FF3300"/>
              </a:solidFill>
              <a:tailEnd len="med" type="arrow" w="med"/>
            </a:ln>
          </p:spPr>
        </p:cxnSp>
        <p:cxnSp>
          <p:nvCxnSpPr>
            <p:cNvPr id="423" name="Straight Arrow Connector 16"/>
            <p:cNvCxnSpPr/>
            <p:nvPr/>
          </p:nvCxnSpPr>
          <p:spPr>
            <a:xfrm flipV="1">
              <a:off x="9570600" y="1895400"/>
              <a:ext cx="79200" cy="372240"/>
            </a:xfrm>
            <a:prstGeom prst="straightConnector1">
              <a:avLst/>
            </a:prstGeom>
            <a:ln w="31750">
              <a:solidFill>
                <a:srgbClr val="FF3300"/>
              </a:solidFill>
              <a:tailEnd len="med" type="arrow" w="med"/>
            </a:ln>
          </p:spPr>
        </p:cxnSp>
        <p:cxnSp>
          <p:nvCxnSpPr>
            <p:cNvPr id="424" name="Straight Arrow Connector 17"/>
            <p:cNvCxnSpPr/>
            <p:nvPr/>
          </p:nvCxnSpPr>
          <p:spPr>
            <a:xfrm flipV="1">
              <a:off x="10135800" y="1905480"/>
              <a:ext cx="200880" cy="315360"/>
            </a:xfrm>
            <a:prstGeom prst="straightConnector1">
              <a:avLst/>
            </a:prstGeom>
            <a:ln w="31750">
              <a:solidFill>
                <a:srgbClr val="FF3300"/>
              </a:solidFill>
              <a:tailEnd len="med" type="arrow" w="med"/>
            </a:ln>
          </p:spPr>
        </p:cxnSp>
      </p:grpSp>
      <p:sp>
        <p:nvSpPr>
          <p:cNvPr id="425" name="PlaceHolder 2"/>
          <p:cNvSpPr>
            <a:spLocks noGrp="1"/>
          </p:cNvSpPr>
          <p:nvPr>
            <p:ph/>
          </p:nvPr>
        </p:nvSpPr>
        <p:spPr>
          <a:xfrm>
            <a:off x="497160" y="853560"/>
            <a:ext cx="6312240" cy="5280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en-US" sz="18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There is not</a:t>
            </a: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 a line going through A, B and C’: 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             y = m * x + c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For A:  1     = m * 1 + c 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For B:  2     = m * 3 + c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  <a:tabLst>
                <a:tab pos="0" algn="l"/>
              </a:tabLst>
            </a:pPr>
            <a:r>
              <a:rPr lang="vi-VN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For C</a:t>
            </a: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’</a:t>
            </a:r>
            <a:r>
              <a:rPr lang="vi-VN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: </a:t>
            </a:r>
            <a:r>
              <a:rPr lang="vi-VN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2 </a:t>
            </a: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    </a:t>
            </a:r>
            <a:r>
              <a:rPr lang="vi-VN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= m * 4 + c 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e</a:t>
            </a:r>
            <a:r>
              <a:rPr lang="en-US" sz="1800" b="0" u="none" strike="noStrike" baseline="30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2</a:t>
            </a:r>
            <a:r>
              <a:rPr lang="en-US" sz="1800" b="0" u="none" strike="noStrike" baseline="-25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A</a:t>
            </a: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 = (y</a:t>
            </a:r>
            <a:r>
              <a:rPr lang="en-US" sz="1800" b="0" u="none" strike="noStrike" baseline="-25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Aline</a:t>
            </a: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 - y</a:t>
            </a:r>
            <a:r>
              <a:rPr lang="en-US" sz="1800" b="0" u="none" strike="noStrike" baseline="-25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A</a:t>
            </a: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)</a:t>
            </a:r>
            <a:r>
              <a:rPr lang="en-US" sz="1800" b="0" u="none" strike="noStrike" baseline="30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2 </a:t>
            </a: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= (m * 1 + c - 1)</a:t>
            </a:r>
            <a:r>
              <a:rPr lang="en-US" sz="1800" b="0" u="none" strike="noStrike" baseline="30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2 </a:t>
            </a: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= (m + c - 1)</a:t>
            </a:r>
            <a:r>
              <a:rPr lang="en-US" sz="1800" b="0" u="none" strike="noStrike" baseline="30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2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e</a:t>
            </a:r>
            <a:r>
              <a:rPr lang="en-US" sz="1800" b="0" u="none" strike="noStrike" baseline="30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2</a:t>
            </a:r>
            <a:r>
              <a:rPr lang="en-US" sz="1800" b="0" u="none" strike="noStrike" baseline="-25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B</a:t>
            </a: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 = (y</a:t>
            </a:r>
            <a:r>
              <a:rPr lang="en-US" sz="1800" b="0" u="none" strike="noStrike" baseline="-25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Bline</a:t>
            </a: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 - y</a:t>
            </a:r>
            <a:r>
              <a:rPr lang="en-US" sz="1800" b="0" u="none" strike="noStrike" baseline="-25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B</a:t>
            </a: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)</a:t>
            </a:r>
            <a:r>
              <a:rPr lang="en-US" sz="1800" b="0" u="none" strike="noStrike" baseline="30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2 </a:t>
            </a: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= (m * 3 + c - 2)</a:t>
            </a:r>
            <a:r>
              <a:rPr lang="en-US" sz="1800" b="0" u="none" strike="noStrike" baseline="30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2 </a:t>
            </a: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= (3m + c - 2)</a:t>
            </a:r>
            <a:r>
              <a:rPr lang="en-US" sz="1800" b="0" u="none" strike="noStrike" baseline="30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2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e</a:t>
            </a:r>
            <a:r>
              <a:rPr lang="en-US" sz="1800" b="0" u="none" strike="noStrike" baseline="30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2</a:t>
            </a:r>
            <a:r>
              <a:rPr lang="en-US" sz="1800" b="0" u="none" strike="noStrike" baseline="-25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C</a:t>
            </a: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 = (y</a:t>
            </a:r>
            <a:r>
              <a:rPr lang="en-US" sz="1800" b="0" u="none" strike="noStrike" baseline="-25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Cline</a:t>
            </a: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 - y</a:t>
            </a:r>
            <a:r>
              <a:rPr lang="en-US" sz="1800" b="0" u="none" strike="noStrike" baseline="-25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C</a:t>
            </a: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)</a:t>
            </a:r>
            <a:r>
              <a:rPr lang="en-US" sz="1800" b="0" u="none" strike="noStrike" baseline="30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2 </a:t>
            </a: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= (m * 4 + c - 2)</a:t>
            </a:r>
            <a:r>
              <a:rPr lang="en-US" sz="1800" b="0" u="none" strike="noStrike" baseline="30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2 </a:t>
            </a: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= (4m + c - 2)</a:t>
            </a:r>
            <a:r>
              <a:rPr lang="en-US" sz="1800" b="0" u="none" strike="noStrike" baseline="30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2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e</a:t>
            </a:r>
            <a:r>
              <a:rPr lang="en-US" sz="1800" b="0" u="none" strike="noStrike" baseline="30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2</a:t>
            </a:r>
            <a:r>
              <a:rPr lang="en-US" sz="1800" b="0" u="none" strike="noStrike" baseline="-25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total</a:t>
            </a: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 = e</a:t>
            </a:r>
            <a:r>
              <a:rPr lang="en-US" sz="1800" b="0" u="none" strike="noStrike" baseline="30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2</a:t>
            </a:r>
            <a:r>
              <a:rPr lang="en-US" sz="1800" b="0" u="none" strike="noStrike" baseline="-25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A</a:t>
            </a: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 + e</a:t>
            </a:r>
            <a:r>
              <a:rPr lang="en-US" sz="1800" b="0" u="none" strike="noStrike" baseline="30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2</a:t>
            </a:r>
            <a:r>
              <a:rPr lang="en-US" sz="1800" b="0" u="none" strike="noStrike" baseline="-25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B</a:t>
            </a: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 + e</a:t>
            </a:r>
            <a:r>
              <a:rPr lang="en-US" sz="1800" b="0" u="none" strike="noStrike" baseline="30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2</a:t>
            </a:r>
            <a:r>
              <a:rPr lang="en-US" sz="1800" b="0" u="none" strike="noStrike" baseline="-25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C 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228600"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         </a:t>
            </a: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= (m + c - 1)</a:t>
            </a:r>
            <a:r>
              <a:rPr lang="en-US" sz="1800" b="0" u="none" strike="noStrike" baseline="30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2 </a:t>
            </a: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+ (3m + c - 2)</a:t>
            </a:r>
            <a:r>
              <a:rPr lang="en-US" sz="1800" b="0" u="none" strike="noStrike" baseline="30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2</a:t>
            </a: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 + (4m + c - 2)</a:t>
            </a:r>
            <a:r>
              <a:rPr lang="en-US" sz="1800" b="0" u="none" strike="noStrike" baseline="30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2</a:t>
            </a: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 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228600"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         = c</a:t>
            </a:r>
            <a:r>
              <a:rPr lang="en-US" sz="1800" b="0" u="none" strike="noStrike" baseline="33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2 </a:t>
            </a: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+ m</a:t>
            </a:r>
            <a:r>
              <a:rPr lang="en-US" sz="1800" b="0" u="none" strike="noStrike" baseline="33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2 –</a:t>
            </a: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 2m + 2cm – 2c + 1 + c</a:t>
            </a:r>
            <a:r>
              <a:rPr lang="en-US" sz="1800" b="0" u="none" strike="noStrike" baseline="33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2 </a:t>
            </a: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+ 9m</a:t>
            </a:r>
            <a:r>
              <a:rPr lang="en-US" sz="1800" b="0" u="none" strike="noStrike" baseline="33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2 –</a:t>
            </a: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 12m + 6cm – 4c + 4 + c</a:t>
            </a:r>
            <a:r>
              <a:rPr lang="en-US" sz="1800" b="0" u="none" strike="noStrike" baseline="33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2 </a:t>
            </a: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+ 16m</a:t>
            </a:r>
            <a:r>
              <a:rPr lang="en-US" sz="1800" b="0" u="none" strike="noStrike" baseline="33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2 </a:t>
            </a: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 - 16m + 8cm – 4c + 4 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228600"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         = 26m</a:t>
            </a:r>
            <a:r>
              <a:rPr lang="en-US" sz="1800" b="0" u="none" strike="noStrike" baseline="30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2 </a:t>
            </a: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+ 3c</a:t>
            </a:r>
            <a:r>
              <a:rPr lang="en-US" sz="1800" b="0" u="none" strike="noStrike" baseline="30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2 –</a:t>
            </a: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 30m + 16cm -10c + 9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de</a:t>
            </a:r>
            <a:r>
              <a:rPr lang="en-US" sz="1800" b="0" u="none" strike="noStrike" baseline="30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2</a:t>
            </a:r>
            <a:r>
              <a:rPr lang="en-US" sz="1800" b="0" u="none" strike="noStrike" baseline="-25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total</a:t>
            </a: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 /dm = 52m + 16c - 30 = 0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de</a:t>
            </a:r>
            <a:r>
              <a:rPr lang="en-US" sz="1800" b="0" u="none" strike="noStrike" baseline="30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2</a:t>
            </a:r>
            <a:r>
              <a:rPr lang="en-US" sz="1800" b="0" u="none" strike="noStrike" baseline="-25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total</a:t>
            </a: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 /dc = 16m + 6c - 10 = 0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Georgia"/>
              </a:rPr>
              <a:t>-&gt; m = 5/14 = 0.357 and c = 5/7 = 0.714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pic>
        <p:nvPicPr>
          <p:cNvPr id="426" name="Picture 3"/>
          <p:cNvPicPr/>
          <p:nvPr/>
        </p:nvPicPr>
        <p:blipFill>
          <a:blip r:embed="rId3"/>
          <a:stretch/>
        </p:blipFill>
        <p:spPr>
          <a:xfrm>
            <a:off x="7032600" y="2730960"/>
            <a:ext cx="4552560" cy="3800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27" name="Straight Connector 28"/>
          <p:cNvCxnSpPr/>
          <p:nvPr/>
        </p:nvCxnSpPr>
        <p:spPr>
          <a:xfrm flipV="1">
            <a:off x="7930800" y="3882960"/>
            <a:ext cx="2805840" cy="1645560"/>
          </a:xfrm>
          <a:prstGeom prst="straightConnector1">
            <a:avLst/>
          </a:prstGeom>
          <a:ln w="41275">
            <a:solidFill>
              <a:srgbClr val="5B9BD5"/>
            </a:solidFill>
          </a:ln>
        </p:spPr>
      </p:cxnSp>
      <p:cxnSp>
        <p:nvCxnSpPr>
          <p:cNvPr id="428" name="Straight Connector 29"/>
          <p:cNvCxnSpPr/>
          <p:nvPr/>
        </p:nvCxnSpPr>
        <p:spPr>
          <a:xfrm flipV="1">
            <a:off x="10105200" y="4262040"/>
            <a:ext cx="1080" cy="190080"/>
          </a:xfrm>
          <a:prstGeom prst="straightConnector1">
            <a:avLst/>
          </a:prstGeom>
          <a:ln w="47625">
            <a:solidFill>
              <a:srgbClr val="FFC000">
                <a:lumMod val="75000"/>
              </a:srgbClr>
            </a:solidFill>
          </a:ln>
        </p:spPr>
      </p:cxnSp>
      <p:cxnSp>
        <p:nvCxnSpPr>
          <p:cNvPr id="429" name="Straight Connector 30"/>
          <p:cNvCxnSpPr/>
          <p:nvPr/>
        </p:nvCxnSpPr>
        <p:spPr>
          <a:xfrm flipV="1">
            <a:off x="9466560" y="4451760"/>
            <a:ext cx="720" cy="190440"/>
          </a:xfrm>
          <a:prstGeom prst="straightConnector1">
            <a:avLst/>
          </a:prstGeom>
          <a:ln w="47625">
            <a:solidFill>
              <a:srgbClr val="FFC000">
                <a:lumMod val="75000"/>
              </a:srgbClr>
            </a:solidFill>
          </a:ln>
        </p:spPr>
      </p:cxnSp>
      <p:cxnSp>
        <p:nvCxnSpPr>
          <p:cNvPr id="430" name="Straight Connector 31"/>
          <p:cNvCxnSpPr/>
          <p:nvPr/>
        </p:nvCxnSpPr>
        <p:spPr>
          <a:xfrm flipV="1">
            <a:off x="8197200" y="5207400"/>
            <a:ext cx="2880" cy="174960"/>
          </a:xfrm>
          <a:prstGeom prst="straightConnector1">
            <a:avLst/>
          </a:prstGeom>
          <a:ln w="47625">
            <a:solidFill>
              <a:srgbClr val="FFC000">
                <a:lumMod val="75000"/>
              </a:srgbClr>
            </a:solidFill>
          </a:ln>
        </p:spPr>
      </p:cxnSp>
      <p:sp>
        <p:nvSpPr>
          <p:cNvPr id="431" name="Text Box 33"/>
          <p:cNvSpPr/>
          <p:nvPr/>
        </p:nvSpPr>
        <p:spPr>
          <a:xfrm>
            <a:off x="8277840" y="5292000"/>
            <a:ext cx="86904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</a:t>
            </a:r>
            <a:r>
              <a:rPr lang="en-US" sz="3600" b="1" u="none" strike="noStrike" baseline="-25000">
                <a:solidFill>
                  <a:schemeClr val="dk1"/>
                </a:solidFill>
                <a:effectLst/>
                <a:uFillTx/>
                <a:latin typeface="Arial"/>
              </a:rPr>
              <a:t>A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Box 34"/>
          <p:cNvSpPr/>
          <p:nvPr/>
        </p:nvSpPr>
        <p:spPr>
          <a:xfrm>
            <a:off x="9175680" y="4737240"/>
            <a:ext cx="86904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</a:t>
            </a:r>
            <a:r>
              <a:rPr lang="en-US" sz="3600" b="1" u="none" strike="noStrike" baseline="-25000">
                <a:solidFill>
                  <a:schemeClr val="dk1"/>
                </a:solidFill>
                <a:effectLst/>
                <a:uFillTx/>
                <a:latin typeface="Arial"/>
              </a:rPr>
              <a:t>B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Box 35"/>
          <p:cNvSpPr/>
          <p:nvPr/>
        </p:nvSpPr>
        <p:spPr>
          <a:xfrm>
            <a:off x="10135800" y="4452120"/>
            <a:ext cx="86904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</a:t>
            </a:r>
            <a:r>
              <a:rPr lang="en-US" sz="3600" b="1" u="none" strike="noStrike" baseline="-25000">
                <a:solidFill>
                  <a:schemeClr val="dk1"/>
                </a:solidFill>
                <a:effectLst/>
                <a:uFillTx/>
                <a:latin typeface="Arial"/>
              </a:rPr>
              <a:t>C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4" name="Picture 4"/>
          <p:cNvPicPr/>
          <p:nvPr/>
        </p:nvPicPr>
        <p:blipFill>
          <a:blip r:embed="rId4"/>
          <a:stretch/>
        </p:blipFill>
        <p:spPr>
          <a:xfrm>
            <a:off x="5749200" y="730800"/>
            <a:ext cx="2022840" cy="1862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PlaceHolder 1"/>
          <p:cNvSpPr>
            <a:spLocks noGrp="1"/>
          </p:cNvSpPr>
          <p:nvPr>
            <p:ph type="title"/>
          </p:nvPr>
        </p:nvSpPr>
        <p:spPr>
          <a:xfrm>
            <a:off x="311400" y="208800"/>
            <a:ext cx="11391480" cy="653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Linear regression is equivalent to doing MLE on the Gaussian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target</a:t>
            </a:r>
            <a:endParaRPr lang="en-US" sz="2400" b="1" u="none" strike="noStrike">
              <a:solidFill>
                <a:schemeClr val="dk1"/>
              </a:solidFill>
              <a:effectLst/>
              <a:uFillTx/>
              <a:latin typeface="C059"/>
            </a:endParaRPr>
          </a:p>
        </p:txBody>
      </p:sp>
      <p:sp>
        <p:nvSpPr>
          <p:cNvPr id="436" name="Text Box 5"/>
          <p:cNvSpPr/>
          <p:nvPr/>
        </p:nvSpPr>
        <p:spPr>
          <a:xfrm>
            <a:off x="5617800" y="6372000"/>
            <a:ext cx="63151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https://www.stat.cmu.edu/~cshalizi/mreg/15/lectures/06/lecture-06.pdf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7" name="Content Placeholder 7"/>
          <p:cNvPicPr/>
          <p:nvPr/>
        </p:nvPicPr>
        <p:blipFill>
          <a:blip r:embed="rId1"/>
          <a:stretch/>
        </p:blipFill>
        <p:spPr>
          <a:xfrm>
            <a:off x="335880" y="1015920"/>
            <a:ext cx="5988960" cy="5250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8" name="Picture 8"/>
          <p:cNvPicPr/>
          <p:nvPr/>
        </p:nvPicPr>
        <p:blipFill>
          <a:blip r:embed="rId2"/>
          <a:stretch/>
        </p:blipFill>
        <p:spPr>
          <a:xfrm>
            <a:off x="6738480" y="2912040"/>
            <a:ext cx="5111280" cy="3231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9" name="Picture 9"/>
          <p:cNvPicPr/>
          <p:nvPr/>
        </p:nvPicPr>
        <p:blipFill>
          <a:blip r:embed="rId3"/>
          <a:stretch/>
        </p:blipFill>
        <p:spPr>
          <a:xfrm>
            <a:off x="7661160" y="911880"/>
            <a:ext cx="3438000" cy="1771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title"/>
          </p:nvPr>
        </p:nvSpPr>
        <p:spPr>
          <a:xfrm>
            <a:off x="516600" y="258480"/>
            <a:ext cx="11430000" cy="80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Linear regression is equivalent to doing MLE on the Gaussian target</a:t>
            </a:r>
            <a:endParaRPr lang="en-US" sz="2400" b="1" u="none" strike="noStrike">
              <a:solidFill>
                <a:schemeClr val="dk1"/>
              </a:solidFill>
              <a:effectLst/>
              <a:uFillTx/>
              <a:latin typeface="C059"/>
            </a:endParaRPr>
          </a:p>
        </p:txBody>
      </p:sp>
      <p:pic>
        <p:nvPicPr>
          <p:cNvPr id="441" name="Content Placeholder 4"/>
          <p:cNvPicPr/>
          <p:nvPr/>
        </p:nvPicPr>
        <p:blipFill>
          <a:blip r:embed="rId1"/>
          <a:stretch/>
        </p:blipFill>
        <p:spPr>
          <a:xfrm>
            <a:off x="1468800" y="1220400"/>
            <a:ext cx="8840160" cy="503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2" name="Text Box 5"/>
          <p:cNvSpPr/>
          <p:nvPr/>
        </p:nvSpPr>
        <p:spPr>
          <a:xfrm>
            <a:off x="7315200" y="6444000"/>
            <a:ext cx="425808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https://liyanxu.blog/2021/03/11/mle_vs_map/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1010960" cy="80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MAP is equivalent to the linear regression with L2/ridge regularization</a:t>
            </a:r>
            <a:endParaRPr lang="en-US" sz="2200" b="1" u="none" strike="noStrike">
              <a:solidFill>
                <a:schemeClr val="dk1"/>
              </a:solidFill>
              <a:effectLst/>
              <a:uFillTx/>
              <a:latin typeface="C059"/>
            </a:endParaRPr>
          </a:p>
        </p:txBody>
      </p:sp>
      <p:sp>
        <p:nvSpPr>
          <p:cNvPr id="444" name="Text Box 5"/>
          <p:cNvSpPr/>
          <p:nvPr/>
        </p:nvSpPr>
        <p:spPr>
          <a:xfrm>
            <a:off x="7086600" y="6444000"/>
            <a:ext cx="448668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https://liyanxu.blog/2021/03/11/mle_vs_map/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5" name="Content Placeholder 3"/>
          <p:cNvPicPr/>
          <p:nvPr/>
        </p:nvPicPr>
        <p:blipFill>
          <a:blip r:embed="rId1"/>
          <a:stretch/>
        </p:blipFill>
        <p:spPr>
          <a:xfrm>
            <a:off x="975240" y="1327320"/>
            <a:ext cx="9860040" cy="4351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937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Multip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le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Linear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Regre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ssion: </a:t>
            </a:r>
            <a:r>
              <a:rPr lang="vi-VN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Fitting </a:t>
            </a:r>
            <a:r>
              <a:rPr lang="vi-VN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a line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going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throug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h</a:t>
            </a:r>
            <a:r>
              <a:rPr lang="vi-VN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multip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le </a:t>
            </a:r>
            <a:r>
              <a:rPr lang="vi-VN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points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with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two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featur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es</a:t>
            </a:r>
            <a:endParaRPr lang="en-US" sz="2400" b="1" u="none" strike="noStrike">
              <a:solidFill>
                <a:schemeClr val="dk1"/>
              </a:solidFill>
              <a:effectLst/>
              <a:uFillTx/>
              <a:latin typeface="C059"/>
            </a:endParaRPr>
          </a:p>
        </p:txBody>
      </p:sp>
      <p:graphicFrame>
        <p:nvGraphicFramePr>
          <p:cNvPr id="447" name="Table 5"/>
          <p:cNvGraphicFramePr/>
          <p:nvPr/>
        </p:nvGraphicFramePr>
        <p:xfrm>
          <a:off x="3538080" y="1434600"/>
          <a:ext cx="7900920" cy="2163960"/>
        </p:xfrm>
        <a:graphic>
          <a:graphicData uri="http://schemas.openxmlformats.org/drawingml/2006/table">
            <a:tbl>
              <a:tblPr/>
              <a:tblGrid>
                <a:gridCol w="1107360"/>
                <a:gridCol w="2005200"/>
                <a:gridCol w="2138040"/>
                <a:gridCol w="2650320"/>
              </a:tblGrid>
              <a:tr h="380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</a:rPr>
                        <a:t>Plant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</a:rPr>
                        <a:t>x1 (Age, month)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</a:rPr>
                        <a:t>x2 (Height, cm)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</a:rPr>
                        <a:t>y (Weight, gram)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B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vi-VN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C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vi-VN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r>
                        <a:rPr lang="vi-VN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.5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...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...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...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...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48" name="Text Box 2"/>
          <p:cNvSpPr/>
          <p:nvPr/>
        </p:nvSpPr>
        <p:spPr>
          <a:xfrm>
            <a:off x="3476160" y="3688200"/>
            <a:ext cx="653832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Matrix format: y = m1*x1 + m2*x2 + 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9" name="Picture 7"/>
          <p:cNvPicPr/>
          <p:nvPr/>
        </p:nvPicPr>
        <p:blipFill>
          <a:blip r:embed="rId1"/>
          <a:stretch/>
        </p:blipFill>
        <p:spPr>
          <a:xfrm>
            <a:off x="495360" y="4344840"/>
            <a:ext cx="3495240" cy="1966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937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Multiple Linear Regression: </a:t>
            </a:r>
            <a:r>
              <a:rPr lang="vi-VN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Fitting a line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going through</a:t>
            </a:r>
            <a:r>
              <a:rPr lang="vi-VN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multiple </a:t>
            </a:r>
            <a:r>
              <a:rPr lang="vi-VN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points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059"/>
              </a:rPr>
              <a:t>with two features</a:t>
            </a:r>
            <a:endParaRPr lang="en-US" sz="2400" b="1" u="none" strike="noStrike">
              <a:solidFill>
                <a:schemeClr val="dk1"/>
              </a:solidFill>
              <a:effectLst/>
              <a:uFillTx/>
              <a:latin typeface="C059"/>
            </a:endParaRPr>
          </a:p>
        </p:txBody>
      </p:sp>
      <p:graphicFrame>
        <p:nvGraphicFramePr>
          <p:cNvPr id="451" name="Table 5"/>
          <p:cNvGraphicFramePr/>
          <p:nvPr/>
        </p:nvGraphicFramePr>
        <p:xfrm>
          <a:off x="3538080" y="1434600"/>
          <a:ext cx="7900920" cy="2163960"/>
        </p:xfrm>
        <a:graphic>
          <a:graphicData uri="http://schemas.openxmlformats.org/drawingml/2006/table">
            <a:tbl>
              <a:tblPr/>
              <a:tblGrid>
                <a:gridCol w="1107360"/>
                <a:gridCol w="2005200"/>
                <a:gridCol w="2138040"/>
                <a:gridCol w="2650320"/>
              </a:tblGrid>
              <a:tr h="380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</a:rPr>
                        <a:t>Plant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</a:rPr>
                        <a:t>x1 (Age, month)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</a:rPr>
                        <a:t>x2 (Height, cm)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</a:rPr>
                        <a:t>y (Weight, gram)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B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vi-VN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C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vi-VN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r>
                        <a:rPr lang="vi-VN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.5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...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...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...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...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52" name="Text Box 2"/>
          <p:cNvSpPr/>
          <p:nvPr/>
        </p:nvSpPr>
        <p:spPr>
          <a:xfrm>
            <a:off x="3476160" y="3688200"/>
            <a:ext cx="653832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M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a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t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r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i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x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f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o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r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m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a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t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: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y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=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m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1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*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x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1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+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m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2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*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x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2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+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53" name="Table 4"/>
          <p:cNvGraphicFramePr/>
          <p:nvPr/>
        </p:nvGraphicFramePr>
        <p:xfrm>
          <a:off x="5777280" y="4261320"/>
          <a:ext cx="1566360" cy="1464480"/>
        </p:xfrm>
        <a:graphic>
          <a:graphicData uri="http://schemas.openxmlformats.org/drawingml/2006/table">
            <a:tbl>
              <a:tblPr/>
              <a:tblGrid>
                <a:gridCol w="592920"/>
                <a:gridCol w="565560"/>
                <a:gridCol w="40752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3816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3816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38160">
                      <a:noFill/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...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800" b="1" u="none" strike="noStrike">
                        <a:solidFill>
                          <a:schemeClr val="dk1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...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54" name="Table 20"/>
          <p:cNvGraphicFramePr/>
          <p:nvPr/>
        </p:nvGraphicFramePr>
        <p:xfrm>
          <a:off x="7457400" y="4495680"/>
          <a:ext cx="500040" cy="915840"/>
        </p:xfrm>
        <a:graphic>
          <a:graphicData uri="http://schemas.openxmlformats.org/drawingml/2006/table">
            <a:tbl>
              <a:tblPr/>
              <a:tblGrid>
                <a:gridCol w="500040"/>
              </a:tblGrid>
              <a:tr h="3045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m1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045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m2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045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c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55" name="Table 21"/>
          <p:cNvGraphicFramePr/>
          <p:nvPr/>
        </p:nvGraphicFramePr>
        <p:xfrm>
          <a:off x="8591040" y="4248000"/>
          <a:ext cx="607320" cy="1480320"/>
        </p:xfrm>
        <a:graphic>
          <a:graphicData uri="http://schemas.openxmlformats.org/drawingml/2006/table">
            <a:tbl>
              <a:tblPr/>
              <a:tblGrid>
                <a:gridCol w="607680"/>
              </a:tblGrid>
              <a:tr h="3700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700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700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2.5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700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...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56" name="Table 23"/>
          <p:cNvGraphicFramePr/>
          <p:nvPr/>
        </p:nvGraphicFramePr>
        <p:xfrm>
          <a:off x="7950960" y="4768200"/>
          <a:ext cx="607320" cy="370080"/>
        </p:xfrm>
        <a:graphic>
          <a:graphicData uri="http://schemas.openxmlformats.org/drawingml/2006/table">
            <a:tbl>
              <a:tblPr/>
              <a:tblGrid>
                <a:gridCol w="607680"/>
              </a:tblGrid>
              <a:tr h="3700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=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57" name="Left Bracket 24"/>
          <p:cNvSpPr/>
          <p:nvPr/>
        </p:nvSpPr>
        <p:spPr>
          <a:xfrm>
            <a:off x="5896440" y="4323240"/>
            <a:ext cx="75240" cy="1330560"/>
          </a:xfrm>
          <a:prstGeom prst="leftBracket">
            <a:avLst>
              <a:gd name="adj" fmla="val 8333"/>
            </a:avLst>
          </a:prstGeom>
          <a:noFill/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8" name="Left Bracket 25"/>
          <p:cNvSpPr/>
          <p:nvPr/>
        </p:nvSpPr>
        <p:spPr>
          <a:xfrm>
            <a:off x="8608680" y="4344840"/>
            <a:ext cx="75240" cy="1330560"/>
          </a:xfrm>
          <a:prstGeom prst="leftBracket">
            <a:avLst>
              <a:gd name="adj" fmla="val 8333"/>
            </a:avLst>
          </a:prstGeom>
          <a:noFill/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9" name="Left Bracket 26"/>
          <p:cNvSpPr/>
          <p:nvPr/>
        </p:nvSpPr>
        <p:spPr>
          <a:xfrm rot="10800000">
            <a:off x="9139320" y="4345200"/>
            <a:ext cx="75240" cy="1330560"/>
          </a:xfrm>
          <a:prstGeom prst="leftBracket">
            <a:avLst>
              <a:gd name="adj" fmla="val 8333"/>
            </a:avLst>
          </a:prstGeom>
          <a:noFill/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60" name="Left Bracket 27"/>
          <p:cNvSpPr/>
          <p:nvPr/>
        </p:nvSpPr>
        <p:spPr>
          <a:xfrm rot="10800000">
            <a:off x="7225200" y="4332240"/>
            <a:ext cx="75240" cy="1330560"/>
          </a:xfrm>
          <a:prstGeom prst="leftBracket">
            <a:avLst>
              <a:gd name="adj" fmla="val 8333"/>
            </a:avLst>
          </a:prstGeom>
          <a:noFill/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61" name="Left Bracket 29"/>
          <p:cNvSpPr/>
          <p:nvPr/>
        </p:nvSpPr>
        <p:spPr>
          <a:xfrm rot="10800000">
            <a:off x="7815240" y="4467240"/>
            <a:ext cx="92520" cy="883440"/>
          </a:xfrm>
          <a:prstGeom prst="leftBracket">
            <a:avLst>
              <a:gd name="adj" fmla="val 8333"/>
            </a:avLst>
          </a:prstGeom>
          <a:noFill/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Box 30"/>
          <p:cNvSpPr/>
          <p:nvPr/>
        </p:nvSpPr>
        <p:spPr>
          <a:xfrm>
            <a:off x="7300440" y="5923080"/>
            <a:ext cx="1017000" cy="3679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</a:rPr>
              <a:t> 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63" name="Straight Arrow Connector 31"/>
          <p:cNvCxnSpPr/>
          <p:nvPr/>
        </p:nvCxnSpPr>
        <p:spPr>
          <a:xfrm flipH="1" flipV="1">
            <a:off x="7091640" y="5777640"/>
            <a:ext cx="366120" cy="241560"/>
          </a:xfrm>
          <a:prstGeom prst="straightConnector1">
            <a:avLst/>
          </a:prstGeom>
          <a:ln w="28575">
            <a:solidFill>
              <a:srgbClr val="5B9BD5"/>
            </a:solidFill>
            <a:tailEnd len="med" type="arrow" w="med"/>
          </a:ln>
        </p:spPr>
      </p:cxnSp>
      <p:cxnSp>
        <p:nvCxnSpPr>
          <p:cNvPr id="464" name="Straight Arrow Connector 32"/>
          <p:cNvCxnSpPr/>
          <p:nvPr/>
        </p:nvCxnSpPr>
        <p:spPr>
          <a:xfrm flipV="1">
            <a:off x="7698600" y="5429880"/>
            <a:ext cx="360" cy="562320"/>
          </a:xfrm>
          <a:prstGeom prst="straightConnector1">
            <a:avLst/>
          </a:prstGeom>
          <a:ln w="31750">
            <a:solidFill>
              <a:srgbClr val="5B9BD5"/>
            </a:solidFill>
            <a:tailEnd len="med" type="arrow" w="med"/>
          </a:ln>
        </p:spPr>
      </p:cxnSp>
      <p:cxnSp>
        <p:nvCxnSpPr>
          <p:cNvPr id="465" name="Straight Arrow Connector 33"/>
          <p:cNvCxnSpPr/>
          <p:nvPr/>
        </p:nvCxnSpPr>
        <p:spPr>
          <a:xfrm flipV="1">
            <a:off x="8231400" y="5731920"/>
            <a:ext cx="452880" cy="278640"/>
          </a:xfrm>
          <a:prstGeom prst="straightConnector1">
            <a:avLst/>
          </a:prstGeom>
          <a:ln w="31750">
            <a:solidFill>
              <a:srgbClr val="5B9BD5"/>
            </a:solidFill>
            <a:tailEnd len="med" type="arrow" w="med"/>
          </a:ln>
        </p:spPr>
      </p:cxnSp>
      <p:sp>
        <p:nvSpPr>
          <p:cNvPr id="466" name="Left Bracket 3"/>
          <p:cNvSpPr/>
          <p:nvPr/>
        </p:nvSpPr>
        <p:spPr>
          <a:xfrm>
            <a:off x="7518240" y="4469040"/>
            <a:ext cx="92520" cy="883440"/>
          </a:xfrm>
          <a:prstGeom prst="leftBracket">
            <a:avLst>
              <a:gd name="adj" fmla="val 8333"/>
            </a:avLst>
          </a:prstGeom>
          <a:noFill/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467" name="Picture 7"/>
          <p:cNvPicPr/>
          <p:nvPr/>
        </p:nvPicPr>
        <p:blipFill>
          <a:blip r:embed="rId2"/>
          <a:stretch/>
        </p:blipFill>
        <p:spPr>
          <a:xfrm>
            <a:off x="495360" y="4344840"/>
            <a:ext cx="3495240" cy="1966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PlaceHolder 1"/>
          <p:cNvSpPr>
            <a:spLocks noGrp="1"/>
          </p:cNvSpPr>
          <p:nvPr>
            <p:ph type="title"/>
          </p:nvPr>
        </p:nvSpPr>
        <p:spPr>
          <a:xfrm>
            <a:off x="639360" y="147240"/>
            <a:ext cx="10515240" cy="55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Least Squares and the Pseudoinverse</a:t>
            </a:r>
            <a:endParaRPr lang="en-US" sz="2400" b="1" u="none" strike="noStrike">
              <a:solidFill>
                <a:schemeClr val="dk1"/>
              </a:solidFill>
              <a:effectLst/>
              <a:uFillTx/>
              <a:latin typeface="Arial Black"/>
            </a:endParaRPr>
          </a:p>
        </p:txBody>
      </p:sp>
      <p:pic>
        <p:nvPicPr>
          <p:cNvPr id="469" name="Content Placeholder 27"/>
          <p:cNvPicPr/>
          <p:nvPr/>
        </p:nvPicPr>
        <p:blipFill>
          <a:blip r:embed="rId1"/>
          <a:stretch/>
        </p:blipFill>
        <p:spPr>
          <a:xfrm>
            <a:off x="2778120" y="807120"/>
            <a:ext cx="6982200" cy="5731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PlaceHolder 1"/>
          <p:cNvSpPr>
            <a:spLocks noGrp="1"/>
          </p:cNvSpPr>
          <p:nvPr>
            <p:ph type="title"/>
          </p:nvPr>
        </p:nvSpPr>
        <p:spPr>
          <a:xfrm>
            <a:off x="639360" y="147240"/>
            <a:ext cx="10515240" cy="55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Least Squares and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gradient descent</a:t>
            </a:r>
            <a:endParaRPr lang="en-US" sz="2400" b="1" u="none" strike="noStrike">
              <a:solidFill>
                <a:schemeClr val="dk1"/>
              </a:solidFill>
              <a:effectLst/>
              <a:uFillTx/>
              <a:latin typeface="Arial Black"/>
            </a:endParaRPr>
          </a:p>
        </p:txBody>
      </p:sp>
      <p:sp>
        <p:nvSpPr>
          <p:cNvPr id="471" name="PlaceHolder 2"/>
          <p:cNvSpPr>
            <a:spLocks noGrp="1"/>
          </p:cNvSpPr>
          <p:nvPr>
            <p:ph/>
          </p:nvPr>
        </p:nvSpPr>
        <p:spPr>
          <a:xfrm>
            <a:off x="639360" y="103068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 baseline="-25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 = y</a:t>
            </a:r>
            <a:r>
              <a:rPr lang="en-US" sz="2000" b="0" u="none" strike="noStrike" baseline="-25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Aline</a:t>
            </a: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 - y</a:t>
            </a:r>
            <a:r>
              <a:rPr lang="en-US" sz="2000" b="0" u="none" strike="noStrike" baseline="-25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A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 baseline="-25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B</a:t>
            </a: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 = y</a:t>
            </a:r>
            <a:r>
              <a:rPr lang="en-US" sz="2000" b="0" u="none" strike="noStrike" baseline="-25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Bline</a:t>
            </a: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 - y</a:t>
            </a:r>
            <a:r>
              <a:rPr lang="en-US" sz="2000" b="0" u="none" strike="noStrike" baseline="-25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B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 baseline="-25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C</a:t>
            </a: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 = y</a:t>
            </a:r>
            <a:r>
              <a:rPr lang="en-US" sz="2000" b="0" u="none" strike="noStrike" baseline="-25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Cline</a:t>
            </a: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 - y</a:t>
            </a:r>
            <a:r>
              <a:rPr lang="en-US" sz="2000" b="0" u="none" strike="noStrike" baseline="-25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C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e = ?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pic>
        <p:nvPicPr>
          <p:cNvPr id="472" name="Picture 3"/>
          <p:cNvPicPr/>
          <p:nvPr/>
        </p:nvPicPr>
        <p:blipFill>
          <a:blip r:embed="rId1"/>
          <a:stretch/>
        </p:blipFill>
        <p:spPr>
          <a:xfrm>
            <a:off x="7032600" y="2730960"/>
            <a:ext cx="4552560" cy="3800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73" name="Straight Connector 28"/>
          <p:cNvCxnSpPr/>
          <p:nvPr/>
        </p:nvCxnSpPr>
        <p:spPr>
          <a:xfrm flipV="1">
            <a:off x="7930800" y="3882960"/>
            <a:ext cx="2805840" cy="1645560"/>
          </a:xfrm>
          <a:prstGeom prst="straightConnector1">
            <a:avLst/>
          </a:prstGeom>
          <a:ln w="41275">
            <a:solidFill>
              <a:srgbClr val="5B9BD5"/>
            </a:solidFill>
          </a:ln>
        </p:spPr>
      </p:cxnSp>
      <p:cxnSp>
        <p:nvCxnSpPr>
          <p:cNvPr id="474" name="Straight Connector 29"/>
          <p:cNvCxnSpPr/>
          <p:nvPr/>
        </p:nvCxnSpPr>
        <p:spPr>
          <a:xfrm flipV="1">
            <a:off x="10105200" y="4262040"/>
            <a:ext cx="1080" cy="190080"/>
          </a:xfrm>
          <a:prstGeom prst="straightConnector1">
            <a:avLst/>
          </a:prstGeom>
          <a:ln w="47625">
            <a:solidFill>
              <a:srgbClr val="FFC000">
                <a:lumMod val="75000"/>
              </a:srgbClr>
            </a:solidFill>
          </a:ln>
        </p:spPr>
      </p:cxnSp>
      <p:cxnSp>
        <p:nvCxnSpPr>
          <p:cNvPr id="475" name="Straight Connector 30"/>
          <p:cNvCxnSpPr/>
          <p:nvPr/>
        </p:nvCxnSpPr>
        <p:spPr>
          <a:xfrm flipV="1">
            <a:off x="9466560" y="4451760"/>
            <a:ext cx="720" cy="190440"/>
          </a:xfrm>
          <a:prstGeom prst="straightConnector1">
            <a:avLst/>
          </a:prstGeom>
          <a:ln w="47625">
            <a:solidFill>
              <a:srgbClr val="FFC000">
                <a:lumMod val="75000"/>
              </a:srgbClr>
            </a:solidFill>
          </a:ln>
        </p:spPr>
      </p:cxnSp>
      <p:cxnSp>
        <p:nvCxnSpPr>
          <p:cNvPr id="476" name="Straight Connector 31"/>
          <p:cNvCxnSpPr/>
          <p:nvPr/>
        </p:nvCxnSpPr>
        <p:spPr>
          <a:xfrm flipV="1">
            <a:off x="8197200" y="5207400"/>
            <a:ext cx="2880" cy="174960"/>
          </a:xfrm>
          <a:prstGeom prst="straightConnector1">
            <a:avLst/>
          </a:prstGeom>
          <a:ln w="47625">
            <a:solidFill>
              <a:srgbClr val="FFC000">
                <a:lumMod val="75000"/>
              </a:srgbClr>
            </a:solidFill>
          </a:ln>
        </p:spPr>
      </p:cxnSp>
      <p:sp>
        <p:nvSpPr>
          <p:cNvPr id="477" name="Text Box 33"/>
          <p:cNvSpPr/>
          <p:nvPr/>
        </p:nvSpPr>
        <p:spPr>
          <a:xfrm>
            <a:off x="8277840" y="5292000"/>
            <a:ext cx="86904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</a:t>
            </a:r>
            <a:r>
              <a:rPr lang="en-US" sz="3600" b="1" u="none" strike="noStrike" baseline="-25000">
                <a:solidFill>
                  <a:schemeClr val="dk1"/>
                </a:solidFill>
                <a:effectLst/>
                <a:uFillTx/>
                <a:latin typeface="Arial"/>
              </a:rPr>
              <a:t>A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Box 34"/>
          <p:cNvSpPr/>
          <p:nvPr/>
        </p:nvSpPr>
        <p:spPr>
          <a:xfrm>
            <a:off x="9175680" y="4737240"/>
            <a:ext cx="86904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</a:t>
            </a:r>
            <a:r>
              <a:rPr lang="en-US" sz="3600" b="1" u="none" strike="noStrike" baseline="-25000">
                <a:solidFill>
                  <a:schemeClr val="dk1"/>
                </a:solidFill>
                <a:effectLst/>
                <a:uFillTx/>
                <a:latin typeface="Arial"/>
              </a:rPr>
              <a:t>B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Box 35"/>
          <p:cNvSpPr/>
          <p:nvPr/>
        </p:nvSpPr>
        <p:spPr>
          <a:xfrm>
            <a:off x="10135800" y="4452120"/>
            <a:ext cx="86904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</a:t>
            </a:r>
            <a:r>
              <a:rPr lang="en-US" sz="3600" b="1" u="none" strike="noStrike" baseline="-25000">
                <a:solidFill>
                  <a:schemeClr val="dk1"/>
                </a:solidFill>
                <a:effectLst/>
                <a:uFillTx/>
                <a:latin typeface="Arial"/>
              </a:rPr>
              <a:t>C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PlaceHolder 1"/>
          <p:cNvSpPr>
            <a:spLocks noGrp="1"/>
          </p:cNvSpPr>
          <p:nvPr>
            <p:ph type="title"/>
          </p:nvPr>
        </p:nvSpPr>
        <p:spPr>
          <a:xfrm>
            <a:off x="639360" y="147240"/>
            <a:ext cx="10515240" cy="55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Least Squares and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gradient descent</a:t>
            </a:r>
            <a:endParaRPr lang="en-US" sz="2400" b="1" u="none" strike="noStrike">
              <a:solidFill>
                <a:schemeClr val="dk1"/>
              </a:solidFill>
              <a:effectLst/>
              <a:uFillTx/>
              <a:latin typeface="Arial Black"/>
            </a:endParaRPr>
          </a:p>
        </p:txBody>
      </p:sp>
      <p:sp>
        <p:nvSpPr>
          <p:cNvPr id="481" name="PlaceHolder 2"/>
          <p:cNvSpPr>
            <a:spLocks noGrp="1"/>
          </p:cNvSpPr>
          <p:nvPr>
            <p:ph/>
          </p:nvPr>
        </p:nvSpPr>
        <p:spPr>
          <a:xfrm>
            <a:off x="578520" y="110952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 baseline="-25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 = y</a:t>
            </a:r>
            <a:r>
              <a:rPr lang="en-US" sz="2000" b="0" u="none" strike="noStrike" baseline="-25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Aline</a:t>
            </a: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 - y</a:t>
            </a:r>
            <a:r>
              <a:rPr lang="en-US" sz="2000" b="0" u="none" strike="noStrike" baseline="-25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A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 baseline="-25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B</a:t>
            </a: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 = y</a:t>
            </a:r>
            <a:r>
              <a:rPr lang="en-US" sz="2000" b="0" u="none" strike="noStrike" baseline="-25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Bline</a:t>
            </a: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 - y</a:t>
            </a:r>
            <a:r>
              <a:rPr lang="en-US" sz="2000" b="0" u="none" strike="noStrike" baseline="-25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B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 baseline="-25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C</a:t>
            </a: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 = y</a:t>
            </a:r>
            <a:r>
              <a:rPr lang="en-US" sz="2000" b="0" u="none" strike="noStrike" baseline="-25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Cline</a:t>
            </a: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 - y</a:t>
            </a:r>
            <a:r>
              <a:rPr lang="en-US" sz="2000" b="0" u="none" strike="noStrike" baseline="-2500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C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e = ?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pic>
        <p:nvPicPr>
          <p:cNvPr id="482" name="Picture 3"/>
          <p:cNvPicPr/>
          <p:nvPr/>
        </p:nvPicPr>
        <p:blipFill>
          <a:blip r:embed="rId1"/>
          <a:stretch/>
        </p:blipFill>
        <p:spPr>
          <a:xfrm>
            <a:off x="7032600" y="1542960"/>
            <a:ext cx="4552560" cy="3800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83" name="Straight Connector 28"/>
          <p:cNvCxnSpPr/>
          <p:nvPr/>
        </p:nvCxnSpPr>
        <p:spPr>
          <a:xfrm flipV="1">
            <a:off x="7930800" y="2694960"/>
            <a:ext cx="2805840" cy="1645560"/>
          </a:xfrm>
          <a:prstGeom prst="straightConnector1">
            <a:avLst/>
          </a:prstGeom>
          <a:ln w="41275">
            <a:solidFill>
              <a:srgbClr val="5B9BD5"/>
            </a:solidFill>
          </a:ln>
        </p:spPr>
      </p:cxnSp>
      <p:cxnSp>
        <p:nvCxnSpPr>
          <p:cNvPr id="484" name="Straight Connector 29"/>
          <p:cNvCxnSpPr/>
          <p:nvPr/>
        </p:nvCxnSpPr>
        <p:spPr>
          <a:xfrm flipV="1">
            <a:off x="10105200" y="3074040"/>
            <a:ext cx="1080" cy="190080"/>
          </a:xfrm>
          <a:prstGeom prst="straightConnector1">
            <a:avLst/>
          </a:prstGeom>
          <a:ln w="47625">
            <a:solidFill>
              <a:srgbClr val="FFC000">
                <a:lumMod val="75000"/>
              </a:srgbClr>
            </a:solidFill>
          </a:ln>
        </p:spPr>
      </p:cxnSp>
      <p:cxnSp>
        <p:nvCxnSpPr>
          <p:cNvPr id="485" name="Straight Connector 30"/>
          <p:cNvCxnSpPr/>
          <p:nvPr/>
        </p:nvCxnSpPr>
        <p:spPr>
          <a:xfrm flipV="1">
            <a:off x="9466560" y="3263760"/>
            <a:ext cx="720" cy="190440"/>
          </a:xfrm>
          <a:prstGeom prst="straightConnector1">
            <a:avLst/>
          </a:prstGeom>
          <a:ln w="47625">
            <a:solidFill>
              <a:srgbClr val="FFC000">
                <a:lumMod val="75000"/>
              </a:srgbClr>
            </a:solidFill>
          </a:ln>
        </p:spPr>
      </p:cxnSp>
      <p:cxnSp>
        <p:nvCxnSpPr>
          <p:cNvPr id="486" name="Straight Connector 31"/>
          <p:cNvCxnSpPr/>
          <p:nvPr/>
        </p:nvCxnSpPr>
        <p:spPr>
          <a:xfrm flipV="1">
            <a:off x="8197200" y="4019400"/>
            <a:ext cx="2880" cy="174960"/>
          </a:xfrm>
          <a:prstGeom prst="straightConnector1">
            <a:avLst/>
          </a:prstGeom>
          <a:ln w="47625">
            <a:solidFill>
              <a:srgbClr val="FFC000">
                <a:lumMod val="75000"/>
              </a:srgbClr>
            </a:solidFill>
          </a:ln>
        </p:spPr>
      </p:cxnSp>
      <p:sp>
        <p:nvSpPr>
          <p:cNvPr id="487" name="Text Box 33"/>
          <p:cNvSpPr/>
          <p:nvPr/>
        </p:nvSpPr>
        <p:spPr>
          <a:xfrm>
            <a:off x="8277840" y="4104000"/>
            <a:ext cx="86904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</a:t>
            </a:r>
            <a:r>
              <a:rPr lang="en-US" sz="3600" b="1" u="none" strike="noStrike" baseline="-25000">
                <a:solidFill>
                  <a:schemeClr val="dk1"/>
                </a:solidFill>
                <a:effectLst/>
                <a:uFillTx/>
                <a:latin typeface="Arial"/>
              </a:rPr>
              <a:t>A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Box 34"/>
          <p:cNvSpPr/>
          <p:nvPr/>
        </p:nvSpPr>
        <p:spPr>
          <a:xfrm>
            <a:off x="9175680" y="3549240"/>
            <a:ext cx="86904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</a:t>
            </a:r>
            <a:r>
              <a:rPr lang="en-US" sz="3600" b="1" u="none" strike="noStrike" baseline="-25000">
                <a:solidFill>
                  <a:schemeClr val="dk1"/>
                </a:solidFill>
                <a:effectLst/>
                <a:uFillTx/>
                <a:latin typeface="Arial"/>
              </a:rPr>
              <a:t>B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 Box 35"/>
          <p:cNvSpPr/>
          <p:nvPr/>
        </p:nvSpPr>
        <p:spPr>
          <a:xfrm>
            <a:off x="10135800" y="3264120"/>
            <a:ext cx="86904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</a:t>
            </a:r>
            <a:r>
              <a:rPr lang="en-US" sz="3600" b="1" u="none" strike="noStrike" baseline="-25000">
                <a:solidFill>
                  <a:schemeClr val="dk1"/>
                </a:solidFill>
                <a:effectLst/>
                <a:uFillTx/>
                <a:latin typeface="Arial"/>
              </a:rPr>
              <a:t>C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0" name="Picture 4"/>
          <p:cNvPicPr/>
          <p:nvPr/>
        </p:nvPicPr>
        <p:blipFill>
          <a:blip r:embed="rId2"/>
          <a:stretch/>
        </p:blipFill>
        <p:spPr>
          <a:xfrm>
            <a:off x="874440" y="2768040"/>
            <a:ext cx="5364000" cy="3868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PlaceHolder 1"/>
          <p:cNvSpPr>
            <a:spLocks noGrp="1"/>
          </p:cNvSpPr>
          <p:nvPr>
            <p:ph type="title"/>
          </p:nvPr>
        </p:nvSpPr>
        <p:spPr>
          <a:xfrm>
            <a:off x="639360" y="147240"/>
            <a:ext cx="10515240" cy="55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Least Squares and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gradient descent</a:t>
            </a:r>
            <a:endParaRPr lang="en-US" sz="2400" b="1" u="none" strike="noStrike">
              <a:solidFill>
                <a:schemeClr val="dk1"/>
              </a:solidFill>
              <a:effectLst/>
              <a:uFillTx/>
              <a:latin typeface="Arial Black"/>
            </a:endParaRPr>
          </a:p>
        </p:txBody>
      </p:sp>
      <p:pic>
        <p:nvPicPr>
          <p:cNvPr id="492" name="Picture 3"/>
          <p:cNvPicPr/>
          <p:nvPr/>
        </p:nvPicPr>
        <p:blipFill>
          <a:blip r:embed="rId1"/>
          <a:stretch/>
        </p:blipFill>
        <p:spPr>
          <a:xfrm>
            <a:off x="7032600" y="1542960"/>
            <a:ext cx="4552560" cy="3800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93" name="Straight Connector 28"/>
          <p:cNvCxnSpPr/>
          <p:nvPr/>
        </p:nvCxnSpPr>
        <p:spPr>
          <a:xfrm flipV="1">
            <a:off x="7930800" y="2694960"/>
            <a:ext cx="2805840" cy="1645560"/>
          </a:xfrm>
          <a:prstGeom prst="straightConnector1">
            <a:avLst/>
          </a:prstGeom>
          <a:ln w="41275">
            <a:solidFill>
              <a:srgbClr val="5B9BD5"/>
            </a:solidFill>
          </a:ln>
        </p:spPr>
      </p:cxnSp>
      <p:cxnSp>
        <p:nvCxnSpPr>
          <p:cNvPr id="494" name="Straight Connector 29"/>
          <p:cNvCxnSpPr/>
          <p:nvPr/>
        </p:nvCxnSpPr>
        <p:spPr>
          <a:xfrm flipV="1">
            <a:off x="10105200" y="3074040"/>
            <a:ext cx="1080" cy="190080"/>
          </a:xfrm>
          <a:prstGeom prst="straightConnector1">
            <a:avLst/>
          </a:prstGeom>
          <a:ln w="47625">
            <a:solidFill>
              <a:srgbClr val="FFC000">
                <a:lumMod val="75000"/>
              </a:srgbClr>
            </a:solidFill>
          </a:ln>
        </p:spPr>
      </p:cxnSp>
      <p:cxnSp>
        <p:nvCxnSpPr>
          <p:cNvPr id="495" name="Straight Connector 30"/>
          <p:cNvCxnSpPr/>
          <p:nvPr/>
        </p:nvCxnSpPr>
        <p:spPr>
          <a:xfrm flipV="1">
            <a:off x="9466560" y="3263760"/>
            <a:ext cx="720" cy="190440"/>
          </a:xfrm>
          <a:prstGeom prst="straightConnector1">
            <a:avLst/>
          </a:prstGeom>
          <a:ln w="47625">
            <a:solidFill>
              <a:srgbClr val="FFC000">
                <a:lumMod val="75000"/>
              </a:srgbClr>
            </a:solidFill>
          </a:ln>
        </p:spPr>
      </p:cxnSp>
      <p:cxnSp>
        <p:nvCxnSpPr>
          <p:cNvPr id="496" name="Straight Connector 31"/>
          <p:cNvCxnSpPr/>
          <p:nvPr/>
        </p:nvCxnSpPr>
        <p:spPr>
          <a:xfrm flipV="1">
            <a:off x="8197200" y="4019400"/>
            <a:ext cx="2880" cy="174960"/>
          </a:xfrm>
          <a:prstGeom prst="straightConnector1">
            <a:avLst/>
          </a:prstGeom>
          <a:ln w="47625">
            <a:solidFill>
              <a:srgbClr val="FFC000">
                <a:lumMod val="75000"/>
              </a:srgbClr>
            </a:solidFill>
          </a:ln>
        </p:spPr>
      </p:cxnSp>
      <p:sp>
        <p:nvSpPr>
          <p:cNvPr id="497" name="Text Box 33"/>
          <p:cNvSpPr/>
          <p:nvPr/>
        </p:nvSpPr>
        <p:spPr>
          <a:xfrm>
            <a:off x="8277840" y="4104000"/>
            <a:ext cx="86904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</a:t>
            </a:r>
            <a:r>
              <a:rPr lang="en-US" sz="3600" b="1" u="none" strike="noStrike" baseline="-25000">
                <a:solidFill>
                  <a:schemeClr val="dk1"/>
                </a:solidFill>
                <a:effectLst/>
                <a:uFillTx/>
                <a:latin typeface="Arial"/>
              </a:rPr>
              <a:t>A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 Box 34"/>
          <p:cNvSpPr/>
          <p:nvPr/>
        </p:nvSpPr>
        <p:spPr>
          <a:xfrm>
            <a:off x="9175680" y="3549240"/>
            <a:ext cx="86904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</a:t>
            </a:r>
            <a:r>
              <a:rPr lang="en-US" sz="3600" b="1" u="none" strike="noStrike" baseline="-25000">
                <a:solidFill>
                  <a:schemeClr val="dk1"/>
                </a:solidFill>
                <a:effectLst/>
                <a:uFillTx/>
                <a:latin typeface="Arial"/>
              </a:rPr>
              <a:t>B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 Box 35"/>
          <p:cNvSpPr/>
          <p:nvPr/>
        </p:nvSpPr>
        <p:spPr>
          <a:xfrm>
            <a:off x="10135800" y="3264120"/>
            <a:ext cx="86904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</a:t>
            </a:r>
            <a:r>
              <a:rPr lang="en-US" sz="3600" b="1" u="none" strike="noStrike" baseline="-25000">
                <a:solidFill>
                  <a:schemeClr val="dk1"/>
                </a:solidFill>
                <a:effectLst/>
                <a:uFillTx/>
                <a:latin typeface="Arial"/>
              </a:rPr>
              <a:t>C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0" name="Content Placeholder 5"/>
          <p:cNvPicPr/>
          <p:nvPr/>
        </p:nvPicPr>
        <p:blipFill>
          <a:blip r:embed="rId2"/>
          <a:stretch/>
        </p:blipFill>
        <p:spPr>
          <a:xfrm>
            <a:off x="1223640" y="856080"/>
            <a:ext cx="5271480" cy="435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1" name="Picture 6"/>
          <p:cNvPicPr/>
          <p:nvPr/>
        </p:nvPicPr>
        <p:blipFill>
          <a:blip r:embed="rId3"/>
          <a:stretch/>
        </p:blipFill>
        <p:spPr>
          <a:xfrm>
            <a:off x="1173960" y="5209560"/>
            <a:ext cx="5393880" cy="1294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2400</TotalTime>
  <Application>LibreOffice/26.2.5.2$Linux_X86_64 LibreOffice_project/6d2b0d33fb0f5da53a12f98bed3e9973e56ff1f0</Application>
  <AppVersion>15.0000</AppVersion>
  <Words>6487</Words>
  <Paragraphs>791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2022-04-27T11:35:33Z</dcterms:created>
  <dc:creator>phuluu</dc:creator>
  <dc:description/>
  <dc:language>en-US</dc:language>
  <cp:lastModifiedBy/>
  <cp:lastPrinted>2026-09-30T08:41:44Z</cp:lastPrinted>
  <dcterms:modified xsi:type="dcterms:W3CDTF">2026-09-30T08:40:51Z</dcterms:modified>
  <cp:revision>291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1033-11.1.0.10920</vt:lpwstr>
  </property>
  <property fmtid="{D5CDD505-2E9C-101B-9397-08002B2CF9AE}" pid="3" name="PresentationFormat">
    <vt:lpwstr>宽屏</vt:lpwstr>
  </property>
  <property fmtid="{D5CDD505-2E9C-101B-9397-08002B2CF9AE}" pid="4" name="Slides">
    <vt:i4>29</vt:i4>
  </property>
</Properties>
</file>